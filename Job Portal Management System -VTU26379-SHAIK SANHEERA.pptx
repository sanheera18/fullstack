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bold r:id="rId26"/>
      <p:italic r:id="rId27"/>
      <p:boldItalic r:id="rId28"/>
    </p:embeddedFont>
    <p:embeddedFont>
      <p:font typeface="Gotham Bold Italics" panose="020B0604020202020204" charset="0"/>
      <p:regular r:id="rId29"/>
      <p:bold r:id="rId30"/>
      <p:italic r:id="rId31"/>
      <p:boldItalic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20-04-2026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5976872"/>
            <a:ext cx="15784162" cy="923330"/>
          </a:xfrm>
          <a:prstGeom prst="rect">
            <a:avLst/>
          </a:prstGeom>
          <a:noFill/>
        </p:spPr>
        <p:txBody>
          <a:bodyPr wrap="square" rtlCol="0">
            <a:spAutoFit/>
          </a:bodyPr>
          <a:lstStyle/>
          <a:p>
            <a:pPr algn="ctr"/>
            <a:r>
              <a:rPr lang="en-IN" sz="5400" dirty="0">
                <a:solidFill>
                  <a:srgbClr val="C00000"/>
                </a:solidFill>
                <a:latin typeface="Times New Roman" panose="02020603050405020304" pitchFamily="18" charset="0"/>
                <a:cs typeface="Times New Roman" panose="02020603050405020304" pitchFamily="18" charset="0"/>
              </a:rPr>
              <a:t>Job Portal Management System</a:t>
            </a:r>
            <a:endParaRPr lang="en-IN" sz="5400" b="1" dirty="0">
              <a:solidFill>
                <a:srgbClr val="C0000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208685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Times New Roman" panose="02020603050405020304" pitchFamily="18" charset="0"/>
                <a:ea typeface="Cambria" panose="02040503050406030204" pitchFamily="18" charset="0"/>
                <a:cs typeface="Times New Roman" panose="02020603050405020304" pitchFamily="18" charset="0"/>
              </a:rPr>
              <a:t>SHAIK SANHEERA</a:t>
            </a:r>
          </a:p>
          <a:p>
            <a:pPr>
              <a:lnSpc>
                <a:spcPct val="150000"/>
              </a:lnSpc>
            </a:pPr>
            <a:r>
              <a:rPr lang="en-US" sz="3000" dirty="0">
                <a:latin typeface="Times New Roman" panose="02020603050405020304" pitchFamily="18" charset="0"/>
                <a:ea typeface="Cambria" panose="02040503050406030204" pitchFamily="18" charset="0"/>
                <a:cs typeface="Times New Roman" panose="02020603050405020304" pitchFamily="18" charset="0"/>
              </a:rPr>
              <a:t>VTU26379 –23UECS1205</a:t>
            </a:r>
            <a:endParaRPr lang="en-IN" sz="30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2268200" y="7636438"/>
            <a:ext cx="6914603"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Mr. S. Manohar ME.,(</a:t>
            </a:r>
            <a:r>
              <a:rPr lang="en-US" sz="3000" dirty="0" err="1">
                <a:latin typeface="Cambria" panose="02040503050406030204" pitchFamily="18" charset="0"/>
                <a:ea typeface="Cambria" panose="02040503050406030204" pitchFamily="18" charset="0"/>
              </a:rPr>
              <a:t>Phd</a:t>
            </a:r>
            <a:r>
              <a:rPr lang="en-US" sz="3000" dirty="0">
                <a:latin typeface="Cambria" panose="02040503050406030204" pitchFamily="18" charset="0"/>
                <a:ea typeface="Cambria" panose="02040503050406030204" pitchFamily="18" charset="0"/>
              </a:rPr>
              <a:t>)</a:t>
            </a:r>
          </a:p>
          <a:p>
            <a:pPr>
              <a:lnSpc>
                <a:spcPct val="150000"/>
              </a:lnSpc>
            </a:pPr>
            <a:r>
              <a:rPr lang="en-US" sz="3000" dirty="0">
                <a:latin typeface="Cambria" panose="02040503050406030204" pitchFamily="18" charset="0"/>
                <a:ea typeface="Cambria" panose="02040503050406030204" pitchFamily="18" charset="0"/>
              </a:rPr>
              <a:t>Assistant Professor</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SDG 9 – Industry, Innovation and Infrastructure</a:t>
            </a:r>
            <a:endParaRPr lang="en-IN" sz="28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228600" y="899597"/>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7" name="Rectangle 3">
            <a:extLst>
              <a:ext uri="{FF2B5EF4-FFF2-40B4-BE49-F238E27FC236}">
                <a16:creationId xmlns:a16="http://schemas.microsoft.com/office/drawing/2014/main" id="{CD07B452-17B2-6DED-9C01-52992513046F}"/>
              </a:ext>
            </a:extLst>
          </p:cNvPr>
          <p:cNvSpPr>
            <a:spLocks noChangeArrowheads="1"/>
          </p:cNvSpPr>
          <p:nvPr/>
        </p:nvSpPr>
        <p:spPr bwMode="auto">
          <a:xfrm>
            <a:off x="2362200" y="1824458"/>
            <a:ext cx="14554199" cy="5831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50000"/>
              </a:lnSpc>
              <a:spcBef>
                <a:spcPct val="0"/>
              </a:spcBef>
              <a:spcAft>
                <a:spcPct val="0"/>
              </a:spcAft>
            </a:pPr>
            <a:endParaRPr lang="en-US" altLang="en-US" sz="2800" dirty="0">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pPr>
            <a:r>
              <a:rPr lang="en-US" sz="2800" dirty="0">
                <a:latin typeface="Times New Roman" panose="02020603050405020304" pitchFamily="18" charset="0"/>
                <a:cs typeface="Times New Roman" panose="02020603050405020304" pitchFamily="18" charset="0"/>
              </a:rPr>
              <a:t>The proposed Job Portal Management System is a comprehensive web-based platform designed to bridge the gap between job seekers and prospective employers. It serves as a centralized hub where students or professionals can discover opportunities and companies can efficiently source top talent. Built with a modern, responsive user interface, the system provides a seamless experience for browsing job listings, submitting resumes, and managing applications. It features secure role-based access control, ensuring that students, employers, and administrators have dedicated dashboards tailored to their specific needs. Ultimately, the portal streamlines the entire recruitment lifecycle, transforming a traditionally tedious process into an organized, digital workflow.</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0" y="78192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362200" y="2101397"/>
            <a:ext cx="14068865" cy="5831853"/>
          </a:xfrm>
          <a:prstGeom prst="rect">
            <a:avLst/>
          </a:prstGeom>
          <a:noFill/>
        </p:spPr>
        <p:txBody>
          <a:bodyPr wrap="square" rtlCol="0">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In the current competitive job market, candidates often struggle to find relevant openings scattered across multiple unorganized platforms, leading to missed opportunities. Simultaneously, employers face significant challenges in managing high volumes of applications manually, often relying on fragmented email threads and physical resumes. Traditional recruitment processes lack a centralized tracking system, making it difficult to shortlist candidates efficiently or provide timely feedback. Furthermore, many existing solutions lack dedicated, intuitive workflows tailored specifically for student placement. There is a critical need for an integrated, automated platform that simplifies job discovery for applicants while providing robust applicant tracking tools for employers.</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14301" y="884655"/>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667000" y="2279056"/>
            <a:ext cx="12344399" cy="7017306"/>
          </a:xfrm>
          <a:prstGeom prst="rect">
            <a:avLst/>
          </a:prstGeom>
          <a:noFill/>
        </p:spPr>
        <p:txBody>
          <a:bodyPr wrap="square" rtlCol="0">
            <a:spAutoFit/>
          </a:bodyPr>
          <a:lstStyle/>
          <a:p>
            <a:pPr algn="just">
              <a:lnSpc>
                <a:spcPct val="150000"/>
              </a:lnSpc>
            </a:pPr>
            <a:r>
              <a:rPr lang="en-US" sz="2800" b="1" dirty="0">
                <a:latin typeface="Times New Roman" panose="02020603050405020304" pitchFamily="18" charset="0"/>
                <a:cs typeface="Times New Roman" panose="02020603050405020304" pitchFamily="18" charset="0"/>
              </a:rPr>
              <a:t>Centralized Connection:</a:t>
            </a:r>
            <a:r>
              <a:rPr lang="en-US" sz="2800" dirty="0">
                <a:latin typeface="Times New Roman" panose="02020603050405020304" pitchFamily="18" charset="0"/>
                <a:cs typeface="Times New Roman" panose="02020603050405020304" pitchFamily="18" charset="0"/>
              </a:rPr>
              <a:t> To develop a user-friendly platform that seamlessly connects job seekers with employers, streamlining the process of job posting, searching, and application submission.</a:t>
            </a:r>
          </a:p>
          <a:p>
            <a:pPr algn="just">
              <a:lnSpc>
                <a:spcPct val="150000"/>
              </a:lnSpc>
            </a:pPr>
            <a:r>
              <a:rPr lang="en-US" sz="2800" b="1" dirty="0">
                <a:latin typeface="Times New Roman" panose="02020603050405020304" pitchFamily="18" charset="0"/>
                <a:cs typeface="Times New Roman" panose="02020603050405020304" pitchFamily="18" charset="0"/>
              </a:rPr>
              <a:t>Role-Based Management:</a:t>
            </a:r>
            <a:r>
              <a:rPr lang="en-US" sz="2800" dirty="0">
                <a:latin typeface="Times New Roman" panose="02020603050405020304" pitchFamily="18" charset="0"/>
                <a:cs typeface="Times New Roman" panose="02020603050405020304" pitchFamily="18" charset="0"/>
              </a:rPr>
              <a:t> To implement a secure architecture providing dedicated, feature-rich dashboards for Students, Employers, and Administrators to manage their respective activities.</a:t>
            </a:r>
          </a:p>
          <a:p>
            <a:pPr algn="just">
              <a:lnSpc>
                <a:spcPct val="150000"/>
              </a:lnSpc>
            </a:pPr>
            <a:r>
              <a:rPr lang="en-US" sz="2800" b="1" dirty="0">
                <a:latin typeface="Times New Roman" panose="02020603050405020304" pitchFamily="18" charset="0"/>
                <a:cs typeface="Times New Roman" panose="02020603050405020304" pitchFamily="18" charset="0"/>
              </a:rPr>
              <a:t>Automated Tracking:</a:t>
            </a:r>
            <a:r>
              <a:rPr lang="en-US" sz="2800" dirty="0">
                <a:latin typeface="Times New Roman" panose="02020603050405020304" pitchFamily="18" charset="0"/>
                <a:cs typeface="Times New Roman" panose="02020603050405020304" pitchFamily="18" charset="0"/>
              </a:rPr>
              <a:t> To automate the applicant tracking process by enabling resume uploads, digital shortlisting, and real-time application status monitoring, thereby reducing manual overhead.</a:t>
            </a:r>
          </a:p>
          <a:p>
            <a:endParaRPr lang="en-US" sz="3600" dirty="0">
              <a:latin typeface="Times New Roman" panose="02020603050405020304" pitchFamily="18" charset="0"/>
              <a:cs typeface="Times New Roman" panose="02020603050405020304" pitchFamily="18" charset="0"/>
            </a:endParaRPr>
          </a:p>
          <a:p>
            <a:pPr marL="457200" indent="-457200">
              <a:buFontTx/>
              <a:buChar char="-"/>
            </a:pPr>
            <a:endParaRPr lang="en-IN"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855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10277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10277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10277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10277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10277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10277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10277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10277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896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90500" y="875044"/>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11392" y="2170663"/>
            <a:ext cx="15178343" cy="5185522"/>
          </a:xfrm>
          <a:prstGeom prst="rect">
            <a:avLst/>
          </a:prstGeom>
          <a:noFill/>
        </p:spPr>
        <p:txBody>
          <a:bodyPr wrap="square" rtlCol="0">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The system follows a robust Client-Server architecture utilizing the Model-View-Controller (MVC) design pattern. The presentation layer is built using HTML5, Bootstrap, and </a:t>
            </a:r>
            <a:r>
              <a:rPr lang="en-US" sz="2800" dirty="0" err="1">
                <a:latin typeface="Times New Roman" panose="02020603050405020304" pitchFamily="18" charset="0"/>
                <a:cs typeface="Times New Roman" panose="02020603050405020304" pitchFamily="18" charset="0"/>
              </a:rPr>
              <a:t>Thymeleaf</a:t>
            </a:r>
            <a:r>
              <a:rPr lang="en-US" sz="2800" dirty="0">
                <a:latin typeface="Times New Roman" panose="02020603050405020304" pitchFamily="18" charset="0"/>
                <a:cs typeface="Times New Roman" panose="02020603050405020304" pitchFamily="18" charset="0"/>
              </a:rPr>
              <a:t> templates, providing a dynamic, responsive, and premium UI. The core business logic and request routing are handled by a Spring Boot backend, ensuring high performance and secure role-based access via Spring Security. Data persistence is managed through Spring Data JPA and Hibernate, mapping Java objects directly to a relational MySQL database. Additionally, the architecture incorporates a dedicated file management module to securely handle multipart resume uploads, making documents directly accessible to employers during the review phase.</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209800" y="1638300"/>
            <a:ext cx="15082325" cy="5386090"/>
          </a:xfrm>
          <a:prstGeom prst="rect">
            <a:avLst/>
          </a:prstGeom>
          <a:noFill/>
        </p:spPr>
        <p:txBody>
          <a:bodyPr wrap="square" rtlCol="0">
            <a:spAutoFit/>
          </a:bodyPr>
          <a:lstStyle/>
          <a:p>
            <a:pPr marL="457200" indent="-457200">
              <a:buFontTx/>
              <a:buChar char="-"/>
            </a:pPr>
            <a:r>
              <a:rPr lang="en-US" sz="3600" dirty="0">
                <a:latin typeface="Times New Roman" panose="02020603050405020304" pitchFamily="18" charset="0"/>
                <a:cs typeface="Times New Roman" panose="02020603050405020304" pitchFamily="18" charset="0"/>
              </a:rPr>
              <a:t>Block Diagram:</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1C41F388-45E9-DF68-F0E1-717727517F31}"/>
              </a:ext>
            </a:extLst>
          </p:cNvPr>
          <p:cNvPicPr>
            <a:picLocks noChangeAspect="1"/>
          </p:cNvPicPr>
          <p:nvPr/>
        </p:nvPicPr>
        <p:blipFill>
          <a:blip r:embed="rId3"/>
          <a:stretch>
            <a:fillRect/>
          </a:stretch>
        </p:blipFill>
        <p:spPr>
          <a:xfrm>
            <a:off x="6858000" y="1373627"/>
            <a:ext cx="8382000" cy="873241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253692"/>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470087" y="810737"/>
            <a:ext cx="15082325" cy="4955203"/>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Data Flow Diagram</a:t>
            </a:r>
            <a:r>
              <a:rPr lang="en-US" sz="3600" dirty="0">
                <a:latin typeface="Times New Roman" panose="02020603050405020304" pitchFamily="18" charset="0"/>
                <a:cs typeface="Times New Roman" panose="02020603050405020304" pitchFamily="18" charset="0"/>
              </a:rPr>
              <a:t>:</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B9CF2F95-97DB-CA20-39BD-D96C01F5A1CB}"/>
              </a:ext>
            </a:extLst>
          </p:cNvPr>
          <p:cNvPicPr>
            <a:picLocks noChangeAspect="1"/>
          </p:cNvPicPr>
          <p:nvPr/>
        </p:nvPicPr>
        <p:blipFill>
          <a:blip r:embed="rId3"/>
          <a:srcRect t="1764"/>
          <a:stretch>
            <a:fillRect/>
          </a:stretch>
        </p:blipFill>
        <p:spPr>
          <a:xfrm>
            <a:off x="2422447" y="1562100"/>
            <a:ext cx="14836853" cy="85000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90499" y="1036864"/>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797143" y="2687293"/>
            <a:ext cx="12693713" cy="3892861"/>
          </a:xfrm>
          <a:prstGeom prst="rect">
            <a:avLst/>
          </a:prstGeom>
          <a:noFill/>
        </p:spPr>
        <p:txBody>
          <a:bodyPr wrap="square" rtlCol="0">
            <a:spAutoFit/>
          </a:bodyPr>
          <a:lstStyle/>
          <a:p>
            <a:pPr algn="just">
              <a:lnSpc>
                <a:spcPct val="150000"/>
              </a:lnSpc>
            </a:pPr>
            <a:r>
              <a:rPr lang="en-IN" sz="2800" b="1" dirty="0">
                <a:latin typeface="Times New Roman" panose="02020603050405020304" pitchFamily="18" charset="0"/>
                <a:cs typeface="Times New Roman" panose="02020603050405020304" pitchFamily="18" charset="0"/>
              </a:rPr>
              <a:t>Frontend:</a:t>
            </a:r>
            <a:r>
              <a:rPr lang="en-IN" sz="2800" dirty="0">
                <a:latin typeface="Times New Roman" panose="02020603050405020304" pitchFamily="18" charset="0"/>
                <a:cs typeface="Times New Roman" panose="02020603050405020304" pitchFamily="18" charset="0"/>
              </a:rPr>
              <a:t> HTML5, Custom CSS3 (Premium Dark Theme), Bootstrap 5, </a:t>
            </a:r>
            <a:r>
              <a:rPr lang="en-IN" sz="2800" dirty="0" err="1">
                <a:latin typeface="Times New Roman" panose="02020603050405020304" pitchFamily="18" charset="0"/>
                <a:cs typeface="Times New Roman" panose="02020603050405020304" pitchFamily="18" charset="0"/>
              </a:rPr>
              <a:t>Thymeleaf</a:t>
            </a:r>
            <a:r>
              <a:rPr lang="en-IN" sz="2800" dirty="0">
                <a:latin typeface="Times New Roman" panose="02020603050405020304" pitchFamily="18" charset="0"/>
                <a:cs typeface="Times New Roman" panose="02020603050405020304" pitchFamily="18" charset="0"/>
              </a:rPr>
              <a:t>, JavaScript</a:t>
            </a:r>
          </a:p>
          <a:p>
            <a:pPr algn="just">
              <a:lnSpc>
                <a:spcPct val="150000"/>
              </a:lnSpc>
            </a:pPr>
            <a:r>
              <a:rPr lang="en-IN" sz="2800" b="1" dirty="0">
                <a:latin typeface="Times New Roman" panose="02020603050405020304" pitchFamily="18" charset="0"/>
                <a:cs typeface="Times New Roman" panose="02020603050405020304" pitchFamily="18" charset="0"/>
              </a:rPr>
              <a:t>Backend:</a:t>
            </a:r>
            <a:r>
              <a:rPr lang="en-IN" sz="2800" dirty="0">
                <a:latin typeface="Times New Roman" panose="02020603050405020304" pitchFamily="18" charset="0"/>
                <a:cs typeface="Times New Roman" panose="02020603050405020304" pitchFamily="18" charset="0"/>
              </a:rPr>
              <a:t> Java 17+, Spring Boot, Spring MVC, Spring Security</a:t>
            </a:r>
          </a:p>
          <a:p>
            <a:pPr algn="just">
              <a:lnSpc>
                <a:spcPct val="150000"/>
              </a:lnSpc>
            </a:pPr>
            <a:r>
              <a:rPr lang="en-IN" sz="2800" b="1" dirty="0">
                <a:latin typeface="Times New Roman" panose="02020603050405020304" pitchFamily="18" charset="0"/>
                <a:cs typeface="Times New Roman" panose="02020603050405020304" pitchFamily="18" charset="0"/>
              </a:rPr>
              <a:t>Database:</a:t>
            </a:r>
            <a:r>
              <a:rPr lang="en-IN" sz="2800" dirty="0">
                <a:latin typeface="Times New Roman" panose="02020603050405020304" pitchFamily="18" charset="0"/>
                <a:cs typeface="Times New Roman" panose="02020603050405020304" pitchFamily="18" charset="0"/>
              </a:rPr>
              <a:t> MySQL, Spring Data JPA, Hibernate ORM</a:t>
            </a:r>
          </a:p>
          <a:p>
            <a:pPr algn="just">
              <a:lnSpc>
                <a:spcPct val="150000"/>
              </a:lnSpc>
            </a:pPr>
            <a:r>
              <a:rPr lang="en-IN" sz="2800" b="1" dirty="0">
                <a:latin typeface="Times New Roman" panose="02020603050405020304" pitchFamily="18" charset="0"/>
                <a:cs typeface="Times New Roman" panose="02020603050405020304" pitchFamily="18" charset="0"/>
              </a:rPr>
              <a:t>Tools &amp; Architecture:</a:t>
            </a:r>
            <a:r>
              <a:rPr lang="en-IN" sz="2800" dirty="0">
                <a:latin typeface="Times New Roman" panose="02020603050405020304" pitchFamily="18" charset="0"/>
                <a:cs typeface="Times New Roman" panose="02020603050405020304" pitchFamily="18" charset="0"/>
              </a:rPr>
              <a:t> Maven (Dependency Management), MVC Pattern, IDE (Eclipse/IntelliJ)</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3" name="TextBox 42">
            <a:extLst>
              <a:ext uri="{FF2B5EF4-FFF2-40B4-BE49-F238E27FC236}">
                <a16:creationId xmlns:a16="http://schemas.microsoft.com/office/drawing/2014/main" id="{9A1BCE7C-890E-A01E-691E-1D3D07CF6333}"/>
              </a:ext>
            </a:extLst>
          </p:cNvPr>
          <p:cNvSpPr txBox="1"/>
          <p:nvPr/>
        </p:nvSpPr>
        <p:spPr>
          <a:xfrm>
            <a:off x="190500" y="731436"/>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1" y="1768499"/>
            <a:ext cx="15100458" cy="7781939"/>
          </a:xfrm>
          <a:prstGeom prst="rect">
            <a:avLst/>
          </a:prstGeom>
          <a:noFill/>
        </p:spPr>
        <p:txBody>
          <a:bodyPr wrap="square" rtlCol="0">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Authentication &amp; Authorization Module</a:t>
            </a:r>
          </a:p>
          <a:p>
            <a:pPr algn="just">
              <a:lnSpc>
                <a:spcPct val="150000"/>
              </a:lnSpc>
            </a:pPr>
            <a:r>
              <a:rPr lang="en-US" sz="2400" dirty="0">
                <a:latin typeface="Times New Roman" panose="02020603050405020304" pitchFamily="18" charset="0"/>
                <a:cs typeface="Times New Roman" panose="02020603050405020304" pitchFamily="18" charset="0"/>
              </a:rPr>
              <a:t>Handles user registration, login, and session management using Spring Security. Ensures role-based access (Student, Employer, Admin) and redirects users to their dashboards.</a:t>
            </a:r>
          </a:p>
          <a:p>
            <a:pPr algn="just">
              <a:lnSpc>
                <a:spcPct val="150000"/>
              </a:lnSpc>
            </a:pPr>
            <a:r>
              <a:rPr lang="en-US" sz="2400" b="1" dirty="0">
                <a:latin typeface="Times New Roman" panose="02020603050405020304" pitchFamily="18" charset="0"/>
                <a:cs typeface="Times New Roman" panose="02020603050405020304" pitchFamily="18" charset="0"/>
              </a:rPr>
              <a:t>2. Student / Job Seeker Module</a:t>
            </a:r>
          </a:p>
          <a:p>
            <a:pPr algn="just">
              <a:lnSpc>
                <a:spcPct val="150000"/>
              </a:lnSpc>
            </a:pPr>
            <a:r>
              <a:rPr lang="en-US" sz="2400" dirty="0">
                <a:latin typeface="Times New Roman" panose="02020603050405020304" pitchFamily="18" charset="0"/>
                <a:cs typeface="Times New Roman" panose="02020603050405020304" pitchFamily="18" charset="0"/>
              </a:rPr>
              <a:t>Allows students to browse jobs, view details, upload resumes (PDF/DOCX), apply for jobs, and track application status (Pending, Shortlisted, Rejected)</a:t>
            </a:r>
          </a:p>
          <a:p>
            <a:pPr algn="just">
              <a:lnSpc>
                <a:spcPct val="150000"/>
              </a:lnSpc>
            </a:pPr>
            <a:r>
              <a:rPr lang="en-US" sz="2400" b="1" dirty="0">
                <a:latin typeface="Times New Roman" panose="02020603050405020304" pitchFamily="18" charset="0"/>
                <a:cs typeface="Times New Roman" panose="02020603050405020304" pitchFamily="18" charset="0"/>
              </a:rPr>
              <a:t>3. Employer Recruitment Module</a:t>
            </a:r>
          </a:p>
          <a:p>
            <a:pPr algn="just">
              <a:lnSpc>
                <a:spcPct val="150000"/>
              </a:lnSpc>
            </a:pPr>
            <a:r>
              <a:rPr lang="en-US" sz="2400" dirty="0">
                <a:latin typeface="Times New Roman" panose="02020603050405020304" pitchFamily="18" charset="0"/>
                <a:cs typeface="Times New Roman" panose="02020603050405020304" pitchFamily="18" charset="0"/>
              </a:rPr>
              <a:t>Enables employers to post jobs, manage listings, view applicants, download resumes, and shortlist or reject candidates.</a:t>
            </a:r>
          </a:p>
          <a:p>
            <a:pPr algn="just">
              <a:lnSpc>
                <a:spcPct val="150000"/>
              </a:lnSpc>
            </a:pPr>
            <a:r>
              <a:rPr lang="en-US" sz="2400" b="1" dirty="0">
                <a:latin typeface="Times New Roman" panose="02020603050405020304" pitchFamily="18" charset="0"/>
                <a:cs typeface="Times New Roman" panose="02020603050405020304" pitchFamily="18" charset="0"/>
              </a:rPr>
              <a:t>4. Administrator Module</a:t>
            </a:r>
          </a:p>
          <a:p>
            <a:pPr algn="just">
              <a:lnSpc>
                <a:spcPct val="150000"/>
              </a:lnSpc>
            </a:pPr>
            <a:r>
              <a:rPr lang="en-US" sz="2400" dirty="0">
                <a:latin typeface="Times New Roman" panose="02020603050405020304" pitchFamily="18" charset="0"/>
                <a:cs typeface="Times New Roman" panose="02020603050405020304" pitchFamily="18" charset="0"/>
              </a:rPr>
              <a:t>Provides system control for admins to monitor users, manage job postings, and view platform statistics (users, jobs, applications).</a:t>
            </a:r>
          </a:p>
          <a:p>
            <a:pPr algn="just">
              <a:lnSpc>
                <a:spcPct val="150000"/>
              </a:lnSpc>
            </a:pPr>
            <a:r>
              <a:rPr lang="en-US" sz="2400" b="1" dirty="0">
                <a:latin typeface="Times New Roman" panose="02020603050405020304" pitchFamily="18" charset="0"/>
                <a:cs typeface="Times New Roman" panose="02020603050405020304" pitchFamily="18" charset="0"/>
              </a:rPr>
              <a:t>5. Application &amp; File Management Module</a:t>
            </a:r>
          </a:p>
          <a:p>
            <a:pPr algn="just">
              <a:lnSpc>
                <a:spcPct val="150000"/>
              </a:lnSpc>
            </a:pPr>
            <a:r>
              <a:rPr lang="en-US" sz="2400" dirty="0">
                <a:latin typeface="Times New Roman" panose="02020603050405020304" pitchFamily="18" charset="0"/>
                <a:cs typeface="Times New Roman" panose="02020603050405020304" pitchFamily="18" charset="0"/>
              </a:rPr>
              <a:t>Handles backend data storage, resume uploads/downloads, and manages relationships between Users, Jobs, and Applications using Spring Data JPA.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a:extLst>
              <a:ext uri="{FF2B5EF4-FFF2-40B4-BE49-F238E27FC236}">
                <a16:creationId xmlns:a16="http://schemas.microsoft.com/office/drawing/2014/main" id="{5A9A18F4-E01B-248B-2498-3B90AFC636BF}"/>
              </a:ext>
            </a:extLst>
          </p:cNvPr>
          <p:cNvPicPr>
            <a:picLocks noChangeAspect="1"/>
          </p:cNvPicPr>
          <p:nvPr/>
        </p:nvPicPr>
        <p:blipFill>
          <a:blip r:embed="rId3"/>
          <a:stretch>
            <a:fillRect/>
          </a:stretch>
        </p:blipFill>
        <p:spPr>
          <a:xfrm>
            <a:off x="2209800" y="1597341"/>
            <a:ext cx="14822944" cy="7092317"/>
          </a:xfrm>
          <a:prstGeom prst="rect">
            <a:avLst/>
          </a:prstGeom>
        </p:spPr>
      </p:pic>
      <p:sp>
        <p:nvSpPr>
          <p:cNvPr id="4" name="TextBox 3">
            <a:extLst>
              <a:ext uri="{FF2B5EF4-FFF2-40B4-BE49-F238E27FC236}">
                <a16:creationId xmlns:a16="http://schemas.microsoft.com/office/drawing/2014/main" id="{478829FF-297B-BD5D-177E-0D5E67874B4F}"/>
              </a:ext>
            </a:extLst>
          </p:cNvPr>
          <p:cNvSpPr txBox="1"/>
          <p:nvPr/>
        </p:nvSpPr>
        <p:spPr>
          <a:xfrm>
            <a:off x="2514600" y="8822188"/>
            <a:ext cx="14173200" cy="954107"/>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Simple Dashboard and home page for the Job Portal Management System where user can browse jobs and apply for them.</a:t>
            </a:r>
          </a:p>
        </p:txBody>
      </p:sp>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5693866"/>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2" name="Picture 41">
            <a:extLst>
              <a:ext uri="{FF2B5EF4-FFF2-40B4-BE49-F238E27FC236}">
                <a16:creationId xmlns:a16="http://schemas.microsoft.com/office/drawing/2014/main" id="{A103F9EC-7A5D-D175-568D-CAB1EE9A9131}"/>
              </a:ext>
            </a:extLst>
          </p:cNvPr>
          <p:cNvPicPr>
            <a:picLocks noChangeAspect="1"/>
          </p:cNvPicPr>
          <p:nvPr/>
        </p:nvPicPr>
        <p:blipFill>
          <a:blip r:embed="rId3"/>
          <a:stretch>
            <a:fillRect/>
          </a:stretch>
        </p:blipFill>
        <p:spPr>
          <a:xfrm>
            <a:off x="2454410" y="1712549"/>
            <a:ext cx="14881543" cy="7459753"/>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7" name="Picture 46">
            <a:extLst>
              <a:ext uri="{FF2B5EF4-FFF2-40B4-BE49-F238E27FC236}">
                <a16:creationId xmlns:a16="http://schemas.microsoft.com/office/drawing/2014/main" id="{A41FABFB-5992-8174-69BD-9D118A7E3A7E}"/>
              </a:ext>
            </a:extLst>
          </p:cNvPr>
          <p:cNvPicPr>
            <a:picLocks noChangeAspect="1"/>
          </p:cNvPicPr>
          <p:nvPr/>
        </p:nvPicPr>
        <p:blipFill>
          <a:blip r:embed="rId3"/>
          <a:stretch>
            <a:fillRect/>
          </a:stretch>
        </p:blipFill>
        <p:spPr>
          <a:xfrm>
            <a:off x="1924172" y="2213431"/>
            <a:ext cx="6822015" cy="5810384"/>
          </a:xfrm>
          <a:prstGeom prst="rect">
            <a:avLst/>
          </a:prstGeom>
        </p:spPr>
      </p:pic>
      <p:pic>
        <p:nvPicPr>
          <p:cNvPr id="49" name="Picture 48">
            <a:extLst>
              <a:ext uri="{FF2B5EF4-FFF2-40B4-BE49-F238E27FC236}">
                <a16:creationId xmlns:a16="http://schemas.microsoft.com/office/drawing/2014/main" id="{B8F75D1B-7F36-9122-2274-889C0EA3E6E4}"/>
              </a:ext>
            </a:extLst>
          </p:cNvPr>
          <p:cNvPicPr>
            <a:picLocks noChangeAspect="1"/>
          </p:cNvPicPr>
          <p:nvPr/>
        </p:nvPicPr>
        <p:blipFill>
          <a:blip r:embed="rId4"/>
          <a:stretch>
            <a:fillRect/>
          </a:stretch>
        </p:blipFill>
        <p:spPr>
          <a:xfrm>
            <a:off x="8942308" y="2213431"/>
            <a:ext cx="8839966" cy="5810384"/>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16CD2A1-D342-9519-CDD3-43FDE92A59CA}"/>
              </a:ext>
            </a:extLst>
          </p:cNvPr>
          <p:cNvPicPr>
            <a:picLocks noChangeAspect="1"/>
          </p:cNvPicPr>
          <p:nvPr/>
        </p:nvPicPr>
        <p:blipFill>
          <a:blip r:embed="rId3"/>
          <a:stretch>
            <a:fillRect/>
          </a:stretch>
        </p:blipFill>
        <p:spPr>
          <a:xfrm>
            <a:off x="1898587" y="1580281"/>
            <a:ext cx="8221394" cy="4231175"/>
          </a:xfrm>
          <a:prstGeom prst="rect">
            <a:avLst/>
          </a:prstGeom>
        </p:spPr>
      </p:pic>
      <p:pic>
        <p:nvPicPr>
          <p:cNvPr id="39" name="Picture 38">
            <a:extLst>
              <a:ext uri="{FF2B5EF4-FFF2-40B4-BE49-F238E27FC236}">
                <a16:creationId xmlns:a16="http://schemas.microsoft.com/office/drawing/2014/main" id="{E7734989-7838-68F7-9911-09F12B3DCA38}"/>
              </a:ext>
            </a:extLst>
          </p:cNvPr>
          <p:cNvPicPr>
            <a:picLocks noChangeAspect="1"/>
          </p:cNvPicPr>
          <p:nvPr/>
        </p:nvPicPr>
        <p:blipFill>
          <a:blip r:embed="rId4"/>
          <a:stretch>
            <a:fillRect/>
          </a:stretch>
        </p:blipFill>
        <p:spPr>
          <a:xfrm>
            <a:off x="9927859" y="5854504"/>
            <a:ext cx="7714714" cy="3937196"/>
          </a:xfrm>
          <a:prstGeom prst="rect">
            <a:avLst/>
          </a:prstGeom>
        </p:spPr>
      </p:pic>
      <p:sp>
        <p:nvSpPr>
          <p:cNvPr id="40" name="TextBox 39">
            <a:extLst>
              <a:ext uri="{FF2B5EF4-FFF2-40B4-BE49-F238E27FC236}">
                <a16:creationId xmlns:a16="http://schemas.microsoft.com/office/drawing/2014/main" id="{131B6463-4F59-935A-353F-3FF420C78CB9}"/>
              </a:ext>
            </a:extLst>
          </p:cNvPr>
          <p:cNvSpPr txBox="1"/>
          <p:nvPr/>
        </p:nvSpPr>
        <p:spPr>
          <a:xfrm>
            <a:off x="10439400" y="1580281"/>
            <a:ext cx="6096000" cy="2600199"/>
          </a:xfrm>
          <a:prstGeom prst="rect">
            <a:avLst/>
          </a:prstGeom>
          <a:noFill/>
        </p:spPr>
        <p:txBody>
          <a:bodyPr wrap="square" rtlCol="0">
            <a:spAutoFit/>
          </a:bodyPr>
          <a:lstStyle/>
          <a:p>
            <a:pPr>
              <a:lnSpc>
                <a:spcPct val="150000"/>
              </a:lnSpc>
            </a:pPr>
            <a:r>
              <a:rPr lang="en-IN" sz="2800" dirty="0">
                <a:latin typeface="Times New Roman" panose="02020603050405020304" pitchFamily="18" charset="0"/>
                <a:cs typeface="Times New Roman" panose="02020603050405020304" pitchFamily="18" charset="0"/>
              </a:rPr>
              <a:t>Employer dashboard where the employer can see the job applications of students and shortlist them. The employer can post the new jobs.</a:t>
            </a:r>
          </a:p>
        </p:txBody>
      </p:sp>
      <p:sp>
        <p:nvSpPr>
          <p:cNvPr id="41" name="TextBox 40">
            <a:extLst>
              <a:ext uri="{FF2B5EF4-FFF2-40B4-BE49-F238E27FC236}">
                <a16:creationId xmlns:a16="http://schemas.microsoft.com/office/drawing/2014/main" id="{6EA5D4B5-B1D4-8C4B-74CD-28CA536ED60E}"/>
              </a:ext>
            </a:extLst>
          </p:cNvPr>
          <p:cNvSpPr txBox="1"/>
          <p:nvPr/>
        </p:nvSpPr>
        <p:spPr>
          <a:xfrm>
            <a:off x="1898587" y="6530069"/>
            <a:ext cx="7714714" cy="1953868"/>
          </a:xfrm>
          <a:prstGeom prst="rect">
            <a:avLst/>
          </a:prstGeom>
          <a:noFill/>
        </p:spPr>
        <p:txBody>
          <a:bodyPr wrap="square" rtlCol="0">
            <a:spAutoFit/>
          </a:bodyPr>
          <a:lstStyle/>
          <a:p>
            <a:pPr>
              <a:lnSpc>
                <a:spcPct val="150000"/>
              </a:lnSpc>
            </a:pPr>
            <a:r>
              <a:rPr lang="en-IN" sz="2800" dirty="0">
                <a:latin typeface="Times New Roman" panose="02020603050405020304" pitchFamily="18" charset="0"/>
                <a:cs typeface="Times New Roman" panose="02020603050405020304" pitchFamily="18" charset="0"/>
              </a:rPr>
              <a:t>Admin Dashboard where admin can keep track of all the data and manage the data of students and the employers.</a:t>
            </a:r>
          </a:p>
        </p:txBody>
      </p:sp>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 name="TextBox 1">
            <a:extLst>
              <a:ext uri="{FF2B5EF4-FFF2-40B4-BE49-F238E27FC236}">
                <a16:creationId xmlns:a16="http://schemas.microsoft.com/office/drawing/2014/main" id="{BC926643-39EA-932E-6755-230476B3078D}"/>
              </a:ext>
            </a:extLst>
          </p:cNvPr>
          <p:cNvSpPr txBox="1"/>
          <p:nvPr/>
        </p:nvSpPr>
        <p:spPr>
          <a:xfrm>
            <a:off x="182630" y="862365"/>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A3E3B8F-197C-59D0-534D-21719E36BFA6}"/>
              </a:ext>
            </a:extLst>
          </p:cNvPr>
          <p:cNvSpPr txBox="1"/>
          <p:nvPr/>
        </p:nvSpPr>
        <p:spPr>
          <a:xfrm>
            <a:off x="1966066" y="1990261"/>
            <a:ext cx="15124429" cy="6673943"/>
          </a:xfrm>
          <a:prstGeom prst="rect">
            <a:avLst/>
          </a:prstGeom>
          <a:noFill/>
        </p:spPr>
        <p:txBody>
          <a:bodyPr wrap="square">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Advantages</a:t>
            </a:r>
          </a:p>
          <a:p>
            <a:pPr algn="just">
              <a:lnSpc>
                <a:spcPct val="150000"/>
              </a:lnSpc>
            </a:pPr>
            <a:r>
              <a:rPr lang="en-US" sz="2400" b="1" dirty="0">
                <a:latin typeface="Times New Roman" panose="02020603050405020304" pitchFamily="18" charset="0"/>
                <a:cs typeface="Times New Roman" panose="02020603050405020304" pitchFamily="18" charset="0"/>
              </a:rPr>
              <a:t>Enhanced Efficiency:</a:t>
            </a:r>
            <a:r>
              <a:rPr lang="en-US" sz="2400" dirty="0">
                <a:latin typeface="Times New Roman" panose="02020603050405020304" pitchFamily="18" charset="0"/>
                <a:cs typeface="Times New Roman" panose="02020603050405020304" pitchFamily="18" charset="0"/>
              </a:rPr>
              <a:t> Drastically reduces the time and manual effort required for both applying to jobs and sorting through candidate applications.</a:t>
            </a:r>
          </a:p>
          <a:p>
            <a:pPr algn="just">
              <a:lnSpc>
                <a:spcPct val="150000"/>
              </a:lnSpc>
            </a:pPr>
            <a:r>
              <a:rPr lang="en-US" sz="2400" b="1" dirty="0">
                <a:latin typeface="Times New Roman" panose="02020603050405020304" pitchFamily="18" charset="0"/>
                <a:cs typeface="Times New Roman" panose="02020603050405020304" pitchFamily="18" charset="0"/>
              </a:rPr>
              <a:t>Centralized Data:</a:t>
            </a:r>
            <a:r>
              <a:rPr lang="en-US" sz="2400" dirty="0">
                <a:latin typeface="Times New Roman" panose="02020603050405020304" pitchFamily="18" charset="0"/>
                <a:cs typeface="Times New Roman" panose="02020603050405020304" pitchFamily="18" charset="0"/>
              </a:rPr>
              <a:t> Keeps all job listings, candidate resumes, and application statuses organized securely in one easily accessible database.</a:t>
            </a:r>
          </a:p>
          <a:p>
            <a:pPr algn="just">
              <a:lnSpc>
                <a:spcPct val="150000"/>
              </a:lnSpc>
            </a:pPr>
            <a:r>
              <a:rPr lang="en-US" sz="2400" b="1" dirty="0">
                <a:latin typeface="Times New Roman" panose="02020603050405020304" pitchFamily="18" charset="0"/>
                <a:cs typeface="Times New Roman" panose="02020603050405020304" pitchFamily="18" charset="0"/>
              </a:rPr>
              <a:t>Scalability:</a:t>
            </a:r>
            <a:r>
              <a:rPr lang="en-US" sz="2400" dirty="0">
                <a:latin typeface="Times New Roman" panose="02020603050405020304" pitchFamily="18" charset="0"/>
                <a:cs typeface="Times New Roman" panose="02020603050405020304" pitchFamily="18" charset="0"/>
              </a:rPr>
              <a:t> The Spring Boot backend architecture allows the system to smoothly handle an increasing number of concurrent users and job postings.</a:t>
            </a:r>
          </a:p>
          <a:p>
            <a:pPr algn="just">
              <a:lnSpc>
                <a:spcPct val="150000"/>
              </a:lnSpc>
            </a:pPr>
            <a:r>
              <a:rPr lang="en-US" sz="2400" b="1" dirty="0">
                <a:latin typeface="Times New Roman" panose="02020603050405020304" pitchFamily="18" charset="0"/>
                <a:cs typeface="Times New Roman" panose="02020603050405020304" pitchFamily="18" charset="0"/>
              </a:rPr>
              <a:t>Disadvantages</a:t>
            </a:r>
          </a:p>
          <a:p>
            <a:pPr algn="just">
              <a:lnSpc>
                <a:spcPct val="150000"/>
              </a:lnSpc>
            </a:pPr>
            <a:r>
              <a:rPr lang="en-US" sz="2400" b="1" dirty="0">
                <a:latin typeface="Times New Roman" panose="02020603050405020304" pitchFamily="18" charset="0"/>
                <a:cs typeface="Times New Roman" panose="02020603050405020304" pitchFamily="18" charset="0"/>
              </a:rPr>
              <a:t>Internet Dependency:</a:t>
            </a:r>
            <a:r>
              <a:rPr lang="en-US" sz="2400" dirty="0">
                <a:latin typeface="Times New Roman" panose="02020603050405020304" pitchFamily="18" charset="0"/>
                <a:cs typeface="Times New Roman" panose="02020603050405020304" pitchFamily="18" charset="0"/>
              </a:rPr>
              <a:t> Requires a stable internet connection for users to browse jobs, upload documents, and review applications.</a:t>
            </a:r>
          </a:p>
          <a:p>
            <a:pPr algn="just">
              <a:lnSpc>
                <a:spcPct val="150000"/>
              </a:lnSpc>
            </a:pPr>
            <a:r>
              <a:rPr lang="en-US" sz="2400" b="1" dirty="0">
                <a:latin typeface="Times New Roman" panose="02020603050405020304" pitchFamily="18" charset="0"/>
                <a:cs typeface="Times New Roman" panose="02020603050405020304" pitchFamily="18" charset="0"/>
              </a:rPr>
              <a:t>Storage Requirements:</a:t>
            </a:r>
            <a:r>
              <a:rPr lang="en-US" sz="2400" dirty="0">
                <a:latin typeface="Times New Roman" panose="02020603050405020304" pitchFamily="18" charset="0"/>
                <a:cs typeface="Times New Roman" panose="02020603050405020304" pitchFamily="18" charset="0"/>
              </a:rPr>
              <a:t> Handling thousands of multipart resume file uploads (PDFs/Docs) will eventually require scalable server storage solutions.</a:t>
            </a:r>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627</TotalTime>
  <Words>1061</Words>
  <Application>Microsoft Office PowerPoint</Application>
  <PresentationFormat>Custom</PresentationFormat>
  <Paragraphs>216</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Bookman Old Style</vt:lpstr>
      <vt:lpstr>Calibri</vt:lpstr>
      <vt:lpstr>Gotham</vt:lpstr>
      <vt:lpstr>Cambria</vt:lpstr>
      <vt:lpstr>Arial</vt:lpstr>
      <vt:lpstr>Times New Roman</vt:lpstr>
      <vt:lpstr>Gotham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SAI Ganesh</dc:creator>
  <cp:lastModifiedBy>sanheera shaik</cp:lastModifiedBy>
  <cp:revision>19</cp:revision>
  <dcterms:created xsi:type="dcterms:W3CDTF">2006-08-16T00:00:00Z</dcterms:created>
  <dcterms:modified xsi:type="dcterms:W3CDTF">2026-04-26T10:09:35Z</dcterms:modified>
  <dc:identifier>DAHCaYqJ9OU</dc:identifier>
</cp:coreProperties>
</file>