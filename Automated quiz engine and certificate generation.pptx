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4C9C9D-6BC9-47C8-899E-14A97157927F}" v="4" dt="2026-03-25T04:06:41.1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heera shaik" userId="c81112793e4b9f4a" providerId="LiveId" clId="{F3788AF1-791F-419C-8E0E-C690D08F8351}"/>
    <pc:docChg chg="custSel modSld">
      <pc:chgData name="sanheera shaik" userId="c81112793e4b9f4a" providerId="LiveId" clId="{F3788AF1-791F-419C-8E0E-C690D08F8351}" dt="2026-03-25T04:06:48.619" v="79" actId="1076"/>
      <pc:docMkLst>
        <pc:docMk/>
      </pc:docMkLst>
      <pc:sldChg chg="modSp mod">
        <pc:chgData name="sanheera shaik" userId="c81112793e4b9f4a" providerId="LiveId" clId="{F3788AF1-791F-419C-8E0E-C690D08F8351}" dt="2026-03-25T03:56:43.795" v="71" actId="1076"/>
        <pc:sldMkLst>
          <pc:docMk/>
          <pc:sldMk cId="0" sldId="256"/>
        </pc:sldMkLst>
        <pc:spChg chg="mod">
          <ac:chgData name="sanheera shaik" userId="c81112793e4b9f4a" providerId="LiveId" clId="{F3788AF1-791F-419C-8E0E-C690D08F8351}" dt="2026-03-25T03:55:23.457" v="64" actId="20577"/>
          <ac:spMkLst>
            <pc:docMk/>
            <pc:sldMk cId="0" sldId="256"/>
            <ac:spMk id="14" creationId="{EA8EEF4A-EB43-B7D9-87FC-7C7D752BCA78}"/>
          </ac:spMkLst>
        </pc:spChg>
        <pc:spChg chg="mod">
          <ac:chgData name="sanheera shaik" userId="c81112793e4b9f4a" providerId="LiveId" clId="{F3788AF1-791F-419C-8E0E-C690D08F8351}" dt="2026-03-25T03:56:00.668" v="70" actId="1076"/>
          <ac:spMkLst>
            <pc:docMk/>
            <pc:sldMk cId="0" sldId="256"/>
            <ac:spMk id="15" creationId="{6FF32D1A-2F9C-AC53-CCBD-ABF748DF236F}"/>
          </ac:spMkLst>
        </pc:spChg>
        <pc:spChg chg="mod">
          <ac:chgData name="sanheera shaik" userId="c81112793e4b9f4a" providerId="LiveId" clId="{F3788AF1-791F-419C-8E0E-C690D08F8351}" dt="2026-03-25T03:56:43.795" v="71" actId="1076"/>
          <ac:spMkLst>
            <pc:docMk/>
            <pc:sldMk cId="0" sldId="256"/>
            <ac:spMk id="16" creationId="{A7AA51DE-E8D7-A1B4-BC0D-B25C8A0C467A}"/>
          </ac:spMkLst>
        </pc:spChg>
      </pc:sldChg>
      <pc:sldChg chg="modSp mod">
        <pc:chgData name="sanheera shaik" userId="c81112793e4b9f4a" providerId="LiveId" clId="{F3788AF1-791F-419C-8E0E-C690D08F8351}" dt="2026-03-25T04:00:10.989" v="72" actId="20577"/>
        <pc:sldMkLst>
          <pc:docMk/>
          <pc:sldMk cId="0" sldId="257"/>
        </pc:sldMkLst>
        <pc:spChg chg="mod">
          <ac:chgData name="sanheera shaik" userId="c81112793e4b9f4a" providerId="LiveId" clId="{F3788AF1-791F-419C-8E0E-C690D08F8351}" dt="2026-03-25T04:00:10.989" v="72" actId="20577"/>
          <ac:spMkLst>
            <pc:docMk/>
            <pc:sldMk cId="0" sldId="257"/>
            <ac:spMk id="3" creationId="{837E9E58-77B6-079D-9D0D-E380CADAD23D}"/>
          </ac:spMkLst>
        </pc:spChg>
      </pc:sldChg>
      <pc:sldChg chg="modSp mod">
        <pc:chgData name="sanheera shaik" userId="c81112793e4b9f4a" providerId="LiveId" clId="{F3788AF1-791F-419C-8E0E-C690D08F8351}" dt="2026-03-25T02:47:22.898" v="1" actId="20577"/>
        <pc:sldMkLst>
          <pc:docMk/>
          <pc:sldMk cId="0" sldId="258"/>
        </pc:sldMkLst>
        <pc:spChg chg="mod">
          <ac:chgData name="sanheera shaik" userId="c81112793e4b9f4a" providerId="LiveId" clId="{F3788AF1-791F-419C-8E0E-C690D08F8351}" dt="2026-03-25T02:47:22.898" v="1" actId="20577"/>
          <ac:spMkLst>
            <pc:docMk/>
            <pc:sldMk cId="0" sldId="258"/>
            <ac:spMk id="48" creationId="{BDE2941C-1504-53F9-99B2-48002CA9A345}"/>
          </ac:spMkLst>
        </pc:spChg>
      </pc:sldChg>
      <pc:sldChg chg="modSp mod">
        <pc:chgData name="sanheera shaik" userId="c81112793e4b9f4a" providerId="LiveId" clId="{F3788AF1-791F-419C-8E0E-C690D08F8351}" dt="2026-03-25T02:50:52.214" v="25" actId="20577"/>
        <pc:sldMkLst>
          <pc:docMk/>
          <pc:sldMk cId="0" sldId="260"/>
        </pc:sldMkLst>
        <pc:spChg chg="mod">
          <ac:chgData name="sanheera shaik" userId="c81112793e4b9f4a" providerId="LiveId" clId="{F3788AF1-791F-419C-8E0E-C690D08F8351}" dt="2026-03-25T02:50:52.214" v="25" actId="20577"/>
          <ac:spMkLst>
            <pc:docMk/>
            <pc:sldMk cId="0" sldId="260"/>
            <ac:spMk id="5" creationId="{00C629B2-6C6D-C321-5EC8-FDAFDBF97E3A}"/>
          </ac:spMkLst>
        </pc:spChg>
      </pc:sldChg>
      <pc:sldChg chg="addSp delSp modSp mod">
        <pc:chgData name="sanheera shaik" userId="c81112793e4b9f4a" providerId="LiveId" clId="{F3788AF1-791F-419C-8E0E-C690D08F8351}" dt="2026-03-25T04:06:48.619" v="79" actId="1076"/>
        <pc:sldMkLst>
          <pc:docMk/>
          <pc:sldMk cId="0" sldId="262"/>
        </pc:sldMkLst>
        <pc:spChg chg="mod">
          <ac:chgData name="sanheera shaik" userId="c81112793e4b9f4a" providerId="LiveId" clId="{F3788AF1-791F-419C-8E0E-C690D08F8351}" dt="2026-03-25T04:06:47.062" v="78" actId="1076"/>
          <ac:spMkLst>
            <pc:docMk/>
            <pc:sldMk cId="0" sldId="262"/>
            <ac:spMk id="6" creationId="{E5DF754E-DFE8-860A-7241-59BA1961CB90}"/>
          </ac:spMkLst>
        </pc:spChg>
        <pc:picChg chg="add del mod">
          <ac:chgData name="sanheera shaik" userId="c81112793e4b9f4a" providerId="LiveId" clId="{F3788AF1-791F-419C-8E0E-C690D08F8351}" dt="2026-03-25T03:50:17.635" v="28" actId="21"/>
          <ac:picMkLst>
            <pc:docMk/>
            <pc:sldMk cId="0" sldId="262"/>
            <ac:picMk id="2" creationId="{C898B097-EA3F-E3B8-3B2B-A6A60F278F31}"/>
          </ac:picMkLst>
        </pc:picChg>
        <pc:picChg chg="add del mod modCrop">
          <ac:chgData name="sanheera shaik" userId="c81112793e4b9f4a" providerId="LiveId" clId="{F3788AF1-791F-419C-8E0E-C690D08F8351}" dt="2026-03-25T04:06:15.836" v="73" actId="478"/>
          <ac:picMkLst>
            <pc:docMk/>
            <pc:sldMk cId="0" sldId="262"/>
            <ac:picMk id="3" creationId="{0BB54857-0205-D932-DEFE-713DC4CDF385}"/>
          </ac:picMkLst>
        </pc:picChg>
        <pc:picChg chg="add del mod modCrop">
          <ac:chgData name="sanheera shaik" userId="c81112793e4b9f4a" providerId="LiveId" clId="{F3788AF1-791F-419C-8E0E-C690D08F8351}" dt="2026-03-25T04:06:17.413" v="74" actId="478"/>
          <ac:picMkLst>
            <pc:docMk/>
            <pc:sldMk cId="0" sldId="262"/>
            <ac:picMk id="4" creationId="{E63697F1-FC0A-6354-9473-2AD6C0797BB1}"/>
          </ac:picMkLst>
        </pc:picChg>
        <pc:picChg chg="del">
          <ac:chgData name="sanheera shaik" userId="c81112793e4b9f4a" providerId="LiveId" clId="{F3788AF1-791F-419C-8E0E-C690D08F8351}" dt="2026-03-25T03:49:40.300" v="26" actId="21"/>
          <ac:picMkLst>
            <pc:docMk/>
            <pc:sldMk cId="0" sldId="262"/>
            <ac:picMk id="5" creationId="{C898B097-EA3F-E3B8-3B2B-A6A60F278F31}"/>
          </ac:picMkLst>
        </pc:picChg>
        <pc:picChg chg="add mod">
          <ac:chgData name="sanheera shaik" userId="c81112793e4b9f4a" providerId="LiveId" clId="{F3788AF1-791F-419C-8E0E-C690D08F8351}" dt="2026-03-25T04:06:48.619" v="79" actId="1076"/>
          <ac:picMkLst>
            <pc:docMk/>
            <pc:sldMk cId="0" sldId="262"/>
            <ac:picMk id="7" creationId="{5AC7FEC7-1568-480D-5BEE-7CC01123847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sv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25-03-2026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Automated Quiz Engine with PDF Certification Generation</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38200" y="7400678"/>
            <a:ext cx="9067800" cy="2776658"/>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SHAIK SANHEERA </a:t>
            </a:r>
          </a:p>
          <a:p>
            <a:pPr>
              <a:lnSpc>
                <a:spcPct val="150000"/>
              </a:lnSpc>
            </a:pPr>
            <a:r>
              <a:rPr lang="en-US" sz="3000" dirty="0">
                <a:latin typeface="Cambria" panose="02040503050406030204" pitchFamily="18" charset="0"/>
                <a:ea typeface="Cambria" panose="02040503050406030204" pitchFamily="18" charset="0"/>
              </a:rPr>
              <a:t>VTU26379 </a:t>
            </a:r>
          </a:p>
          <a:p>
            <a:pPr>
              <a:lnSpc>
                <a:spcPct val="150000"/>
              </a:lnSpc>
            </a:pPr>
            <a:r>
              <a:rPr lang="en-US" sz="3000" dirty="0">
                <a:latin typeface="Cambria" panose="02040503050406030204" pitchFamily="18" charset="0"/>
                <a:ea typeface="Cambria" panose="02040503050406030204" pitchFamily="18" charset="0"/>
              </a:rPr>
              <a:t>23UECS1205</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2496800" y="7400678"/>
            <a:ext cx="6201038" cy="2776658"/>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Mr. S. Manohar M.E., (</a:t>
            </a:r>
            <a:r>
              <a:rPr lang="en-US" sz="3000" dirty="0" err="1">
                <a:latin typeface="Cambria" panose="02040503050406030204" pitchFamily="18" charset="0"/>
                <a:ea typeface="Cambria" panose="02040503050406030204" pitchFamily="18" charset="0"/>
              </a:rPr>
              <a:t>Phd</a:t>
            </a:r>
            <a:r>
              <a:rPr lang="en-US" sz="3000" dirty="0">
                <a:latin typeface="Cambria" panose="02040503050406030204" pitchFamily="18" charset="0"/>
                <a:ea typeface="Cambria" panose="02040503050406030204" pitchFamily="18" charset="0"/>
              </a:rPr>
              <a:t>)</a:t>
            </a:r>
          </a:p>
          <a:p>
            <a:pPr>
              <a:lnSpc>
                <a:spcPct val="150000"/>
              </a:lnSpc>
            </a:pPr>
            <a:r>
              <a:rPr lang="en-US" sz="3000" dirty="0">
                <a:latin typeface="Cambria" panose="02040503050406030204" pitchFamily="18" charset="0"/>
                <a:ea typeface="Cambria" panose="02040503050406030204" pitchFamily="18" charset="0"/>
              </a:rPr>
              <a:t> Assistant Professor</a:t>
            </a:r>
            <a:endParaRPr lang="en-IN" sz="3000" dirty="0">
              <a:latin typeface="Cambria" panose="02040503050406030204" pitchFamily="18" charset="0"/>
              <a:ea typeface="Cambria" panose="02040503050406030204" pitchFamily="18" charset="0"/>
            </a:endParaRPr>
          </a:p>
          <a:p>
            <a:pPr>
              <a:lnSpc>
                <a:spcPct val="150000"/>
              </a:lnSpc>
            </a:pP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6222382" y="6848254"/>
            <a:ext cx="6201038"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a:t>
            </a:r>
            <a:r>
              <a:rPr lang="en-US" sz="2000" dirty="0">
                <a:latin typeface="Times New Roman" panose="02020603050405020304" pitchFamily="18" charset="0"/>
                <a:cs typeface="Times New Roman" panose="02020603050405020304" pitchFamily="18" charset="0"/>
              </a:rPr>
              <a:t>Sustainable Development Goal 4: Quality Education</a:t>
            </a:r>
            <a:endParaRPr lang="en-IN" sz="20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175387" y="1670014"/>
            <a:ext cx="15082325" cy="8063746"/>
          </a:xfrm>
          <a:prstGeom prst="rect">
            <a:avLst/>
          </a:prstGeom>
          <a:noFill/>
        </p:spPr>
        <p:txBody>
          <a:bodyPr wrap="square" rtlCol="0">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Traditional examination methods often depend on manual paper checking, which can take a lot of time and may lead to mistakes. With the rapid growth of digital education, there is an increasing need for systems that can conduct assessments automatically and efficiently. To address this issue, this project proposes an Automated Quiz Engine with PDF Certification Generation. The system allows users to take quizzes online and receive their results immediately. It automatically checks the answers and calculates the score. If the user meets the required criteria, a PDF certificate is generated instantly. This solution helps improve digital learning and supports modern technology-based education systems.</a:t>
            </a: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649069"/>
          </a:xfrm>
          <a:prstGeom prst="rect">
            <a:avLst/>
          </a:prstGeom>
          <a:noFill/>
        </p:spPr>
        <p:txBody>
          <a:bodyPr wrap="square" rtlCol="0">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Many educational institutions still depend on manual or partially digital methods to conduct quizzes and evaluate student performance. This process often takes a lot of time and may lead to errors, while also lacking the ability to provide instant feedback to students. In addition, creating certificates manually increases the workload for administrators and delays recognition for learners. Without proper automation, managing data and tracking results becomes difficult and inefficient. Therefore, there is a need for a secure and reliable automated quiz system that can simplify the assessment process, improve accuracy, and instantly generate PDF certificates for successful participants.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6555641"/>
          </a:xfrm>
          <a:prstGeom prst="rect">
            <a:avLst/>
          </a:prstGeom>
          <a:noFill/>
        </p:spPr>
        <p:txBody>
          <a:bodyPr wrap="square" rtlCol="0">
            <a:spAutoFit/>
          </a:bodyPr>
          <a:lstStyle/>
          <a:p>
            <a:pPr marL="514350" indent="-514350">
              <a:lnSpc>
                <a:spcPct val="200000"/>
              </a:lnSpc>
              <a:buFont typeface="+mj-lt"/>
              <a:buAutoNum type="arabicPeriod"/>
            </a:pPr>
            <a:r>
              <a:rPr lang="en-US" sz="2800" dirty="0">
                <a:latin typeface="Times New Roman" panose="02020603050405020304" pitchFamily="18" charset="0"/>
                <a:cs typeface="Times New Roman" panose="02020603050405020304" pitchFamily="18" charset="0"/>
              </a:rPr>
              <a:t>To design and develop a web-based Automated Quiz Engine that allows users to take online quizzes and receive instant evaluation of their answers.</a:t>
            </a:r>
          </a:p>
          <a:p>
            <a:pPr marL="514350" indent="-514350">
              <a:lnSpc>
                <a:spcPct val="200000"/>
              </a:lnSpc>
              <a:buFont typeface="+mj-lt"/>
              <a:buAutoNum type="arabicPeriod"/>
            </a:pPr>
            <a:r>
              <a:rPr lang="en-US" sz="2800" dirty="0">
                <a:latin typeface="Times New Roman" panose="02020603050405020304" pitchFamily="18" charset="0"/>
                <a:cs typeface="Times New Roman" panose="02020603050405020304" pitchFamily="18" charset="0"/>
              </a:rPr>
              <a:t>To implement an automated system that generates and provides PDF certificates to users based on their quiz performance.</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7206" y="613201"/>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756834" y="1471535"/>
            <a:ext cx="15082325" cy="4832092"/>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5" name="Rectangle 3">
            <a:extLst>
              <a:ext uri="{FF2B5EF4-FFF2-40B4-BE49-F238E27FC236}">
                <a16:creationId xmlns:a16="http://schemas.microsoft.com/office/drawing/2014/main" id="{00C629B2-6C6D-C321-5EC8-FDAFDBF97E3A}"/>
              </a:ext>
            </a:extLst>
          </p:cNvPr>
          <p:cNvSpPr>
            <a:spLocks noChangeArrowheads="1"/>
          </p:cNvSpPr>
          <p:nvPr/>
        </p:nvSpPr>
        <p:spPr bwMode="auto">
          <a:xfrm>
            <a:off x="2209800" y="1603328"/>
            <a:ext cx="15749367" cy="7525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Pct val="120000"/>
              <a:buFont typeface="Arial" panose="020B0604020202020204" pitchFamily="34" charset="0"/>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is designed using a </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three-tier architecture</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includes the Presentation Layer (Frontend), Application Layer (Backend), and Database Layer.</a:t>
            </a:r>
          </a:p>
          <a:p>
            <a:pPr marL="457200" marR="0" lvl="0" indent="-457200" algn="l" defTabSz="914400" rtl="0" eaLnBrk="0" fontAlgn="base" latinLnBrk="0" hangingPunct="0">
              <a:lnSpc>
                <a:spcPct val="150000"/>
              </a:lnSpc>
              <a:spcBef>
                <a:spcPct val="0"/>
              </a:spcBef>
              <a:spcAft>
                <a:spcPct val="0"/>
              </a:spcAft>
              <a:buClrTx/>
              <a:buSzPct val="120000"/>
              <a:buFont typeface="Arial" panose="020B0604020202020204" pitchFamily="34" charset="0"/>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Presentation Layer, built using </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HTML, CSS</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the user interface for login, taking quizzes, viewing results, and downloading certificates.</a:t>
            </a:r>
          </a:p>
          <a:p>
            <a:pPr marL="457200" marR="0" lvl="0" indent="-457200" algn="l" defTabSz="914400" rtl="0" eaLnBrk="0" fontAlgn="base" latinLnBrk="0" hangingPunct="0">
              <a:lnSpc>
                <a:spcPct val="150000"/>
              </a:lnSpc>
              <a:spcBef>
                <a:spcPct val="0"/>
              </a:spcBef>
              <a:spcAft>
                <a:spcPct val="0"/>
              </a:spcAft>
              <a:buClrTx/>
              <a:buSzPct val="120000"/>
              <a:buFont typeface="Arial" panose="020B0604020202020204" pitchFamily="34" charset="0"/>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Application Layer, developed using </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PHP</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manages user authentication, quiz operations, answer verification, score calculation, and PDF certificate generation.</a:t>
            </a:r>
          </a:p>
          <a:p>
            <a:pPr marL="457200" marR="0" lvl="0" indent="-457200" algn="l" defTabSz="914400" rtl="0" eaLnBrk="0" fontAlgn="base" latinLnBrk="0" hangingPunct="0">
              <a:lnSpc>
                <a:spcPct val="150000"/>
              </a:lnSpc>
              <a:spcBef>
                <a:spcPct val="0"/>
              </a:spcBef>
              <a:spcAft>
                <a:spcPct val="0"/>
              </a:spcAft>
              <a:buClrTx/>
              <a:buSzPct val="120000"/>
              <a:buFont typeface="Arial" panose="020B0604020202020204" pitchFamily="34" charset="0"/>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MySQL database</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securely stores important data such as user information, quiz questions, answers, scores, and certificate details.</a:t>
            </a:r>
          </a:p>
          <a:p>
            <a:pPr marL="457200" marR="0" lvl="0" indent="-457200" algn="l" defTabSz="914400" rtl="0" eaLnBrk="0" fontAlgn="base" latinLnBrk="0" hangingPunct="0">
              <a:lnSpc>
                <a:spcPct val="150000"/>
              </a:lnSpc>
              <a:spcBef>
                <a:spcPct val="0"/>
              </a:spcBef>
              <a:spcAft>
                <a:spcPct val="0"/>
              </a:spcAft>
              <a:buClrTx/>
              <a:buSzPct val="120000"/>
              <a:buFont typeface="Arial" panose="020B0604020202020204" pitchFamily="34" charset="0"/>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After the user submits the quiz, the system </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automatically evaluates the answers and displays the results instantly</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0" indent="-457200" algn="l" defTabSz="914400" rtl="0" eaLnBrk="0" fontAlgn="base" latinLnBrk="0" hangingPunct="0">
              <a:lnSpc>
                <a:spcPct val="150000"/>
              </a:lnSpc>
              <a:spcBef>
                <a:spcPct val="0"/>
              </a:spcBef>
              <a:spcAft>
                <a:spcPct val="0"/>
              </a:spcAft>
              <a:buClrTx/>
              <a:buSzPct val="120000"/>
              <a:buFont typeface="Arial" panose="020B0604020202020204" pitchFamily="34" charset="0"/>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the user meets the required passing criteria, the system </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generates a downloadable PDF certificate automatically</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0" indent="-457200" algn="l" defTabSz="914400" rtl="0" eaLnBrk="0" fontAlgn="base" latinLnBrk="0" hangingPunct="0">
              <a:lnSpc>
                <a:spcPct val="150000"/>
              </a:lnSpc>
              <a:spcBef>
                <a:spcPct val="0"/>
              </a:spcBef>
              <a:spcAft>
                <a:spcPct val="0"/>
              </a:spcAft>
              <a:buClrTx/>
              <a:buSzPct val="120000"/>
              <a:buFont typeface="Arial" panose="020B0604020202020204" pitchFamily="34" charset="0"/>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 </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 module</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included to manage the quiz system </a:t>
            </a:r>
            <a:r>
              <a:rPr kumimoji="0" lang="en-US" altLang="en-US" sz="2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by adding </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questions when required.</a:t>
            </a:r>
          </a:p>
          <a:p>
            <a:pPr marL="457200" marR="0" lvl="0" indent="-457200" algn="l" defTabSz="914400" rtl="0" eaLnBrk="0" fontAlgn="base" latinLnBrk="0" hangingPunct="0">
              <a:lnSpc>
                <a:spcPct val="150000"/>
              </a:lnSpc>
              <a:spcBef>
                <a:spcPct val="0"/>
              </a:spcBef>
              <a:spcAft>
                <a:spcPct val="0"/>
              </a:spcAft>
              <a:buClrTx/>
              <a:buSzPct val="120000"/>
              <a:buFont typeface="Arial" panose="020B0604020202020204" pitchFamily="34" charset="0"/>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this architecture reduces manual effort, improves accuracy, increases efficiency, and provides a faster and more reliable assessment process compared to traditional methods.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534087" y="1961301"/>
            <a:ext cx="9448799" cy="6278642"/>
          </a:xfrm>
          <a:prstGeom prst="rect">
            <a:avLst/>
          </a:prstGeom>
          <a:noFill/>
        </p:spPr>
        <p:txBody>
          <a:bodyPr wrap="square" rtlCol="0">
            <a:spAutoFit/>
          </a:bodyPr>
          <a:lstStyle/>
          <a:p>
            <a:pPr marL="457200" indent="-457200">
              <a:buFontTx/>
              <a:buChar char="-"/>
            </a:pPr>
            <a:endParaRPr lang="en-US" sz="2800" dirty="0"/>
          </a:p>
          <a:p>
            <a:pPr algn="just"/>
            <a:r>
              <a:rPr lang="en-US" sz="2200" b="1" dirty="0">
                <a:latin typeface="Times New Roman" panose="02020603050405020304" pitchFamily="18" charset="0"/>
                <a:cs typeface="Times New Roman" panose="02020603050405020304" pitchFamily="18" charset="0"/>
              </a:rPr>
              <a:t>1.User/Browser</a:t>
            </a:r>
          </a:p>
          <a:p>
            <a:pPr algn="just"/>
            <a:r>
              <a:rPr lang="en-US" sz="2200" dirty="0">
                <a:latin typeface="Times New Roman" panose="02020603050405020304" pitchFamily="18" charset="0"/>
                <a:cs typeface="Times New Roman" panose="02020603050405020304" pitchFamily="18" charset="0"/>
              </a:rPr>
              <a:t>The process begins when the user (student/admin) accesses the system through a web browser.</a:t>
            </a:r>
          </a:p>
          <a:p>
            <a:pPr algn="just"/>
            <a:r>
              <a:rPr lang="en-US" sz="2200" b="1" dirty="0">
                <a:latin typeface="Times New Roman" panose="02020603050405020304" pitchFamily="18" charset="0"/>
                <a:cs typeface="Times New Roman" panose="02020603050405020304" pitchFamily="18" charset="0"/>
              </a:rPr>
              <a:t>2. Frontend (HTML, CSS)</a:t>
            </a:r>
          </a:p>
          <a:p>
            <a:pPr algn="just"/>
            <a:r>
              <a:rPr lang="en-US" sz="2200" dirty="0">
                <a:latin typeface="Times New Roman" panose="02020603050405020304" pitchFamily="18" charset="0"/>
                <a:cs typeface="Times New Roman" panose="02020603050405020304" pitchFamily="18" charset="0"/>
              </a:rPr>
              <a:t>The frontend provides the user interface for login, quiz participation, viewing results, and downloading certificates.</a:t>
            </a:r>
          </a:p>
          <a:p>
            <a:pPr algn="just"/>
            <a:r>
              <a:rPr lang="en-US" sz="2200" b="1" dirty="0">
                <a:latin typeface="Times New Roman" panose="02020603050405020304" pitchFamily="18" charset="0"/>
                <a:cs typeface="Times New Roman" panose="02020603050405020304" pitchFamily="18" charset="0"/>
              </a:rPr>
              <a:t>3. Backend (PHP)</a:t>
            </a:r>
          </a:p>
          <a:p>
            <a:pPr algn="just"/>
            <a:r>
              <a:rPr lang="en-US" sz="2200" dirty="0">
                <a:latin typeface="Times New Roman" panose="02020603050405020304" pitchFamily="18" charset="0"/>
                <a:cs typeface="Times New Roman" panose="02020603050405020304" pitchFamily="18" charset="0"/>
              </a:rPr>
              <a:t>The backend processes user requests such as authentication, quiz handling, answer evaluation, and score calculation.</a:t>
            </a:r>
          </a:p>
          <a:p>
            <a:pPr algn="just"/>
            <a:r>
              <a:rPr lang="en-US" sz="2200" b="1" dirty="0">
                <a:latin typeface="Times New Roman" panose="02020603050405020304" pitchFamily="18" charset="0"/>
                <a:cs typeface="Times New Roman" panose="02020603050405020304" pitchFamily="18" charset="0"/>
              </a:rPr>
              <a:t>4. Database Connection</a:t>
            </a:r>
          </a:p>
          <a:p>
            <a:pPr algn="just"/>
            <a:r>
              <a:rPr lang="en-US" sz="2200" dirty="0">
                <a:latin typeface="Times New Roman" panose="02020603050405020304" pitchFamily="18" charset="0"/>
                <a:cs typeface="Times New Roman" panose="02020603050405020304" pitchFamily="18" charset="0"/>
              </a:rPr>
              <a:t>The backend connects to the database to store and retrieve required information.</a:t>
            </a:r>
          </a:p>
          <a:p>
            <a:pPr algn="just"/>
            <a:r>
              <a:rPr lang="en-US" sz="2200" b="1" dirty="0">
                <a:latin typeface="Times New Roman" panose="02020603050405020304" pitchFamily="18" charset="0"/>
                <a:cs typeface="Times New Roman" panose="02020603050405020304" pitchFamily="18" charset="0"/>
              </a:rPr>
              <a:t>5. MySQL Database</a:t>
            </a:r>
          </a:p>
          <a:p>
            <a:pPr algn="just"/>
            <a:r>
              <a:rPr lang="en-US" sz="2200" dirty="0">
                <a:latin typeface="Times New Roman" panose="02020603050405020304" pitchFamily="18" charset="0"/>
                <a:cs typeface="Times New Roman" panose="02020603050405020304" pitchFamily="18" charset="0"/>
              </a:rPr>
              <a:t>The database stores user details, quiz questions, answers, results, and certificate records.</a:t>
            </a:r>
          </a:p>
          <a:p>
            <a:pPr algn="just"/>
            <a:r>
              <a:rPr lang="en-US" sz="2200" b="1" dirty="0">
                <a:latin typeface="Times New Roman" panose="02020603050405020304" pitchFamily="18" charset="0"/>
                <a:cs typeface="Times New Roman" panose="02020603050405020304" pitchFamily="18" charset="0"/>
              </a:rPr>
              <a:t>6. Output (Result &amp; Certificate)</a:t>
            </a:r>
          </a:p>
          <a:p>
            <a:pPr algn="just"/>
            <a:r>
              <a:rPr lang="en-US" sz="2200" dirty="0">
                <a:latin typeface="Times New Roman" panose="02020603050405020304" pitchFamily="18" charset="0"/>
                <a:cs typeface="Times New Roman" panose="02020603050405020304" pitchFamily="18" charset="0"/>
              </a:rPr>
              <a:t>After processing, the system displays the quiz result and generates a PDF certificate for qualified users.</a:t>
            </a:r>
            <a:endParaRPr lang="en-US" sz="2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3DC087E-8CCA-2509-3645-2CD7D4000183}"/>
              </a:ext>
            </a:extLst>
          </p:cNvPr>
          <p:cNvPicPr>
            <a:picLocks noChangeAspect="1"/>
          </p:cNvPicPr>
          <p:nvPr/>
        </p:nvPicPr>
        <p:blipFill>
          <a:blip r:embed="rId4"/>
          <a:stretch>
            <a:fillRect/>
          </a:stretch>
        </p:blipFill>
        <p:spPr>
          <a:xfrm>
            <a:off x="12573000" y="1961301"/>
            <a:ext cx="3423066" cy="651600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647700" y="237789"/>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5DF754E-DFE8-860A-7241-59BA1961CB90}"/>
              </a:ext>
            </a:extLst>
          </p:cNvPr>
          <p:cNvSpPr txBox="1"/>
          <p:nvPr/>
        </p:nvSpPr>
        <p:spPr>
          <a:xfrm>
            <a:off x="2493722" y="2170663"/>
            <a:ext cx="7924800" cy="5185522"/>
          </a:xfrm>
          <a:prstGeom prst="rect">
            <a:avLst/>
          </a:prstGeom>
          <a:noFill/>
        </p:spPr>
        <p:txBody>
          <a:bodyPr wrap="square">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The Data Flow Diagram explains how data flows through the system. First, the user logs in and takes the quiz. The system then checks the answers and calculates the score. All the information is stored in the database for future use. Based on the score, the system determines the result. Finally, the result is displayed, and a PDF certificate is generated for the user.</a:t>
            </a:r>
            <a:endParaRPr lang="en-IN" sz="2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AC7FEC7-1568-480D-5BEE-7CC011238474}"/>
              </a:ext>
            </a:extLst>
          </p:cNvPr>
          <p:cNvPicPr>
            <a:picLocks noChangeAspect="1"/>
          </p:cNvPicPr>
          <p:nvPr/>
        </p:nvPicPr>
        <p:blipFill>
          <a:blip r:embed="rId4"/>
          <a:stretch>
            <a:fillRect/>
          </a:stretch>
        </p:blipFill>
        <p:spPr>
          <a:xfrm>
            <a:off x="11566488" y="1950302"/>
            <a:ext cx="4724809" cy="67366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15F670E-FD6A-BAC9-0062-0F20950D001E}"/>
              </a:ext>
            </a:extLst>
          </p:cNvPr>
          <p:cNvSpPr txBox="1"/>
          <p:nvPr/>
        </p:nvSpPr>
        <p:spPr>
          <a:xfrm>
            <a:off x="2508746" y="3921692"/>
            <a:ext cx="6019800" cy="2954655"/>
          </a:xfrm>
          <a:prstGeom prst="rect">
            <a:avLst/>
          </a:prstGeom>
          <a:noFill/>
        </p:spPr>
        <p:txBody>
          <a:bodyPr wrap="square" rtlCol="0">
            <a:spAutoFit/>
          </a:bodyPr>
          <a:lstStyle/>
          <a:p>
            <a:pPr algn="just"/>
            <a:r>
              <a:rPr lang="en-IN" sz="2600" b="1" dirty="0">
                <a:latin typeface="Times New Roman" panose="02020603050405020304" pitchFamily="18" charset="0"/>
                <a:cs typeface="Times New Roman" panose="02020603050405020304" pitchFamily="18" charset="0"/>
              </a:rPr>
              <a:t>Backend</a:t>
            </a:r>
          </a:p>
          <a:p>
            <a:pPr algn="just"/>
            <a:r>
              <a:rPr lang="en-IN" sz="2000" b="1" dirty="0">
                <a:latin typeface="Times New Roman" panose="02020603050405020304" pitchFamily="18" charset="0"/>
                <a:cs typeface="Times New Roman" panose="02020603050405020304" pitchFamily="18" charset="0"/>
              </a:rPr>
              <a:t>PHP</a:t>
            </a:r>
            <a:r>
              <a:rPr lang="en-IN" sz="2000" dirty="0">
                <a:latin typeface="Times New Roman" panose="02020603050405020304" pitchFamily="18" charset="0"/>
                <a:cs typeface="Times New Roman" panose="02020603050405020304" pitchFamily="18" charset="0"/>
              </a:rPr>
              <a:t> – Used to implement server-side functionality such as:</a:t>
            </a:r>
          </a:p>
          <a:p>
            <a:pPr lvl="1" algn="just"/>
            <a:r>
              <a:rPr lang="en-IN" sz="2000" dirty="0">
                <a:latin typeface="Times New Roman" panose="02020603050405020304" pitchFamily="18" charset="0"/>
                <a:cs typeface="Times New Roman" panose="02020603050405020304" pitchFamily="18" charset="0"/>
              </a:rPr>
              <a:t>User registration and login authentication</a:t>
            </a:r>
          </a:p>
          <a:p>
            <a:pPr lvl="1" algn="just"/>
            <a:r>
              <a:rPr lang="en-IN" sz="2000" dirty="0">
                <a:latin typeface="Times New Roman" panose="02020603050405020304" pitchFamily="18" charset="0"/>
                <a:cs typeface="Times New Roman" panose="02020603050405020304" pitchFamily="18" charset="0"/>
              </a:rPr>
              <a:t>Admin login and question management</a:t>
            </a:r>
          </a:p>
          <a:p>
            <a:pPr lvl="1" algn="just"/>
            <a:r>
              <a:rPr lang="en-IN" sz="2000" dirty="0">
                <a:latin typeface="Times New Roman" panose="02020603050405020304" pitchFamily="18" charset="0"/>
                <a:cs typeface="Times New Roman" panose="02020603050405020304" pitchFamily="18" charset="0"/>
              </a:rPr>
              <a:t>Quiz question retrieval</a:t>
            </a:r>
          </a:p>
          <a:p>
            <a:pPr lvl="1" algn="just"/>
            <a:r>
              <a:rPr lang="en-IN" sz="2000" dirty="0">
                <a:latin typeface="Times New Roman" panose="02020603050405020304" pitchFamily="18" charset="0"/>
                <a:cs typeface="Times New Roman" panose="02020603050405020304" pitchFamily="18" charset="0"/>
              </a:rPr>
              <a:t>Score calculation</a:t>
            </a:r>
          </a:p>
          <a:p>
            <a:pPr lvl="1" algn="just"/>
            <a:r>
              <a:rPr lang="en-IN" sz="2000" dirty="0">
                <a:latin typeface="Times New Roman" panose="02020603050405020304" pitchFamily="18" charset="0"/>
                <a:cs typeface="Times New Roman" panose="02020603050405020304" pitchFamily="18" charset="0"/>
              </a:rPr>
              <a:t>Result processing</a:t>
            </a:r>
          </a:p>
          <a:p>
            <a:pPr lvl="1" algn="just"/>
            <a:r>
              <a:rPr lang="en-IN" sz="2000" dirty="0">
                <a:latin typeface="Times New Roman" panose="02020603050405020304" pitchFamily="18" charset="0"/>
                <a:cs typeface="Times New Roman" panose="02020603050405020304" pitchFamily="18" charset="0"/>
              </a:rPr>
              <a:t>PDF certificate generation</a:t>
            </a:r>
          </a:p>
        </p:txBody>
      </p:sp>
      <p:sp>
        <p:nvSpPr>
          <p:cNvPr id="5" name="TextBox 4">
            <a:extLst>
              <a:ext uri="{FF2B5EF4-FFF2-40B4-BE49-F238E27FC236}">
                <a16:creationId xmlns:a16="http://schemas.microsoft.com/office/drawing/2014/main" id="{5D47D6E4-C0D9-ADDF-791A-B1C9EACBFF04}"/>
              </a:ext>
            </a:extLst>
          </p:cNvPr>
          <p:cNvSpPr txBox="1"/>
          <p:nvPr/>
        </p:nvSpPr>
        <p:spPr>
          <a:xfrm>
            <a:off x="2508746" y="1465050"/>
            <a:ext cx="7089996" cy="2923877"/>
          </a:xfrm>
          <a:prstGeom prst="rect">
            <a:avLst/>
          </a:prstGeom>
          <a:noFill/>
        </p:spPr>
        <p:txBody>
          <a:bodyPr wrap="square" rtlCol="0">
            <a:spAutoFit/>
          </a:bodyPr>
          <a:lstStyle/>
          <a:p>
            <a:pPr algn="just"/>
            <a:r>
              <a:rPr lang="en-US" sz="2600" b="1" dirty="0">
                <a:latin typeface="Times New Roman" panose="02020603050405020304" pitchFamily="18" charset="0"/>
                <a:cs typeface="Times New Roman" panose="02020603050405020304" pitchFamily="18" charset="0"/>
              </a:rPr>
              <a:t>Frontend</a:t>
            </a:r>
          </a:p>
          <a:p>
            <a:pPr algn="just"/>
            <a:r>
              <a:rPr lang="en-US" sz="2000" b="1" dirty="0">
                <a:latin typeface="Times New Roman" panose="02020603050405020304" pitchFamily="18" charset="0"/>
                <a:cs typeface="Times New Roman" panose="02020603050405020304" pitchFamily="18" charset="0"/>
              </a:rPr>
              <a:t>HTML5</a:t>
            </a:r>
            <a:r>
              <a:rPr lang="en-US" sz="2000" dirty="0">
                <a:latin typeface="Times New Roman" panose="02020603050405020304" pitchFamily="18" charset="0"/>
                <a:cs typeface="Times New Roman" panose="02020603050405020304" pitchFamily="18" charset="0"/>
              </a:rPr>
              <a:t> – Used to create the structure of web pages                                                      </a:t>
            </a:r>
          </a:p>
          <a:p>
            <a:pPr algn="just"/>
            <a:r>
              <a:rPr lang="en-US" sz="2000" dirty="0">
                <a:latin typeface="Times New Roman" panose="02020603050405020304" pitchFamily="18" charset="0"/>
                <a:cs typeface="Times New Roman" panose="02020603050405020304" pitchFamily="18" charset="0"/>
              </a:rPr>
              <a:t>such as registration, login, quiz, and admin pages.</a:t>
            </a:r>
          </a:p>
          <a:p>
            <a:pPr algn="just"/>
            <a:r>
              <a:rPr lang="en-US" sz="2000" b="1" dirty="0">
                <a:latin typeface="Times New Roman" panose="02020603050405020304" pitchFamily="18" charset="0"/>
                <a:cs typeface="Times New Roman" panose="02020603050405020304" pitchFamily="18" charset="0"/>
              </a:rPr>
              <a:t>CSS3</a:t>
            </a:r>
            <a:r>
              <a:rPr lang="en-US" sz="2000" dirty="0">
                <a:latin typeface="Times New Roman" panose="02020603050405020304" pitchFamily="18" charset="0"/>
                <a:cs typeface="Times New Roman" panose="02020603050405020304" pitchFamily="18" charset="0"/>
              </a:rPr>
              <a:t> – Used to style the interface and improve </a:t>
            </a:r>
          </a:p>
          <a:p>
            <a:pPr algn="just"/>
            <a:r>
              <a:rPr lang="en-US" sz="2000" dirty="0">
                <a:latin typeface="Times New Roman" panose="02020603050405020304" pitchFamily="18" charset="0"/>
                <a:cs typeface="Times New Roman" panose="02020603050405020304" pitchFamily="18" charset="0"/>
              </a:rPr>
              <a:t>visual appearance.</a:t>
            </a:r>
          </a:p>
          <a:p>
            <a:pPr algn="just"/>
            <a:r>
              <a:rPr lang="en-US" sz="2000" b="1" dirty="0">
                <a:latin typeface="Times New Roman" panose="02020603050405020304" pitchFamily="18" charset="0"/>
                <a:cs typeface="Times New Roman" panose="02020603050405020304" pitchFamily="18" charset="0"/>
              </a:rPr>
              <a:t>Bootstrap 5</a:t>
            </a:r>
            <a:r>
              <a:rPr lang="en-US" sz="2000" dirty="0">
                <a:latin typeface="Times New Roman" panose="02020603050405020304" pitchFamily="18" charset="0"/>
                <a:cs typeface="Times New Roman" panose="02020603050405020304" pitchFamily="18" charset="0"/>
              </a:rPr>
              <a:t> – Used for responsive design and UI </a:t>
            </a:r>
          </a:p>
          <a:p>
            <a:pPr algn="just"/>
            <a:r>
              <a:rPr lang="en-US" sz="2000" dirty="0">
                <a:latin typeface="Times New Roman" panose="02020603050405020304" pitchFamily="18" charset="0"/>
                <a:cs typeface="Times New Roman" panose="02020603050405020304" pitchFamily="18" charset="0"/>
              </a:rPr>
              <a:t>components like cards, forms, and buttons.</a:t>
            </a:r>
          </a:p>
          <a:p>
            <a:pPr algn="just"/>
            <a:endParaRPr lang="en-IN" sz="2000" dirty="0">
              <a:latin typeface="Times New Roman" panose="02020603050405020304" pitchFamily="18" charset="0"/>
              <a:cs typeface="Times New Roman" panose="02020603050405020304" pitchFamily="18" charset="0"/>
            </a:endParaRPr>
          </a:p>
          <a:p>
            <a:endParaRPr lang="en-IN" dirty="0"/>
          </a:p>
        </p:txBody>
      </p:sp>
      <p:sp>
        <p:nvSpPr>
          <p:cNvPr id="6" name="TextBox 5">
            <a:extLst>
              <a:ext uri="{FF2B5EF4-FFF2-40B4-BE49-F238E27FC236}">
                <a16:creationId xmlns:a16="http://schemas.microsoft.com/office/drawing/2014/main" id="{0FDF3B48-FDD8-FE81-6423-076B07395B61}"/>
              </a:ext>
            </a:extLst>
          </p:cNvPr>
          <p:cNvSpPr txBox="1"/>
          <p:nvPr/>
        </p:nvSpPr>
        <p:spPr>
          <a:xfrm>
            <a:off x="2508746" y="6909442"/>
            <a:ext cx="6019800" cy="2616101"/>
          </a:xfrm>
          <a:prstGeom prst="rect">
            <a:avLst/>
          </a:prstGeom>
          <a:noFill/>
        </p:spPr>
        <p:txBody>
          <a:bodyPr wrap="square" rtlCol="0">
            <a:spAutoFit/>
          </a:bodyPr>
          <a:lstStyle/>
          <a:p>
            <a:r>
              <a:rPr lang="en-US" sz="2600" b="1" dirty="0">
                <a:latin typeface="Times New Roman" panose="02020603050405020304" pitchFamily="18" charset="0"/>
                <a:cs typeface="Times New Roman" panose="02020603050405020304" pitchFamily="18" charset="0"/>
              </a:rPr>
              <a:t>Database</a:t>
            </a:r>
          </a:p>
          <a:p>
            <a:r>
              <a:rPr lang="en-US" sz="2000" b="1" dirty="0">
                <a:latin typeface="Times New Roman" panose="02020603050405020304" pitchFamily="18" charset="0"/>
                <a:cs typeface="Times New Roman" panose="02020603050405020304" pitchFamily="18" charset="0"/>
              </a:rPr>
              <a:t>MySQL</a:t>
            </a:r>
            <a:r>
              <a:rPr lang="en-US" sz="2000" dirty="0">
                <a:latin typeface="Times New Roman" panose="02020603050405020304" pitchFamily="18" charset="0"/>
                <a:cs typeface="Times New Roman" panose="02020603050405020304" pitchFamily="18" charset="0"/>
              </a:rPr>
              <a:t> – Used to store and manage data such as:</a:t>
            </a:r>
          </a:p>
          <a:p>
            <a:pPr lvl="1"/>
            <a:r>
              <a:rPr lang="en-US" sz="2000" dirty="0">
                <a:latin typeface="Times New Roman" panose="02020603050405020304" pitchFamily="18" charset="0"/>
                <a:cs typeface="Times New Roman" panose="02020603050405020304" pitchFamily="18" charset="0"/>
              </a:rPr>
              <a:t>User information</a:t>
            </a:r>
          </a:p>
          <a:p>
            <a:pPr lvl="1"/>
            <a:r>
              <a:rPr lang="en-US" sz="2000" dirty="0">
                <a:latin typeface="Times New Roman" panose="02020603050405020304" pitchFamily="18" charset="0"/>
                <a:cs typeface="Times New Roman" panose="02020603050405020304" pitchFamily="18" charset="0"/>
              </a:rPr>
              <a:t>Admin credentials</a:t>
            </a:r>
          </a:p>
          <a:p>
            <a:pPr lvl="1"/>
            <a:r>
              <a:rPr lang="en-US" sz="2000" dirty="0">
                <a:latin typeface="Times New Roman" panose="02020603050405020304" pitchFamily="18" charset="0"/>
                <a:cs typeface="Times New Roman" panose="02020603050405020304" pitchFamily="18" charset="0"/>
              </a:rPr>
              <a:t>Quiz questions and options</a:t>
            </a:r>
          </a:p>
          <a:p>
            <a:pPr lvl="1"/>
            <a:r>
              <a:rPr lang="en-US" sz="2000" dirty="0">
                <a:latin typeface="Times New Roman" panose="02020603050405020304" pitchFamily="18" charset="0"/>
                <a:cs typeface="Times New Roman" panose="02020603050405020304" pitchFamily="18" charset="0"/>
              </a:rPr>
              <a:t>Quiz results and scores</a:t>
            </a:r>
          </a:p>
          <a:p>
            <a:pPr lvl="1"/>
            <a:r>
              <a:rPr lang="en-US" sz="2000" dirty="0">
                <a:latin typeface="Times New Roman" panose="02020603050405020304" pitchFamily="18" charset="0"/>
                <a:cs typeface="Times New Roman" panose="02020603050405020304" pitchFamily="18" charset="0"/>
              </a:rPr>
              <a:t>Certificate details</a:t>
            </a:r>
          </a:p>
          <a:p>
            <a:endParaRPr lang="en-IN" dirty="0"/>
          </a:p>
        </p:txBody>
      </p:sp>
      <p:sp>
        <p:nvSpPr>
          <p:cNvPr id="7" name="TextBox 6">
            <a:extLst>
              <a:ext uri="{FF2B5EF4-FFF2-40B4-BE49-F238E27FC236}">
                <a16:creationId xmlns:a16="http://schemas.microsoft.com/office/drawing/2014/main" id="{3B183644-6280-CCE3-CC09-A75E9E2B3FB5}"/>
              </a:ext>
            </a:extLst>
          </p:cNvPr>
          <p:cNvSpPr txBox="1"/>
          <p:nvPr/>
        </p:nvSpPr>
        <p:spPr>
          <a:xfrm>
            <a:off x="9759456" y="1465050"/>
            <a:ext cx="6248400" cy="4462760"/>
          </a:xfrm>
          <a:prstGeom prst="rect">
            <a:avLst/>
          </a:prstGeom>
          <a:noFill/>
        </p:spPr>
        <p:txBody>
          <a:bodyPr wrap="square" rtlCol="0">
            <a:spAutoFit/>
          </a:bodyPr>
          <a:lstStyle/>
          <a:p>
            <a:pPr algn="just"/>
            <a:r>
              <a:rPr lang="en-US" sz="2600" b="1" dirty="0">
                <a:latin typeface="Times New Roman" panose="02020603050405020304" pitchFamily="18" charset="0"/>
                <a:cs typeface="Times New Roman" panose="02020603050405020304" pitchFamily="18" charset="0"/>
              </a:rPr>
              <a:t>Tools</a:t>
            </a:r>
          </a:p>
          <a:p>
            <a:pPr algn="just"/>
            <a:r>
              <a:rPr lang="en-US" sz="2000" b="1" dirty="0">
                <a:latin typeface="Times New Roman" panose="02020603050405020304" pitchFamily="18" charset="0"/>
                <a:cs typeface="Times New Roman" panose="02020603050405020304" pitchFamily="18" charset="0"/>
              </a:rPr>
              <a:t>XAMPP</a:t>
            </a:r>
            <a:r>
              <a:rPr lang="en-US" sz="2000" dirty="0">
                <a:latin typeface="Times New Roman" panose="02020603050405020304" pitchFamily="18" charset="0"/>
                <a:cs typeface="Times New Roman" panose="02020603050405020304" pitchFamily="18" charset="0"/>
              </a:rPr>
              <a:t> – Local development environment that includes Apache server, PHP, and MySQL.</a:t>
            </a:r>
          </a:p>
          <a:p>
            <a:pPr algn="just"/>
            <a:r>
              <a:rPr lang="en-US" sz="2000" b="1" dirty="0">
                <a:latin typeface="Times New Roman" panose="02020603050405020304" pitchFamily="18" charset="0"/>
                <a:cs typeface="Times New Roman" panose="02020603050405020304" pitchFamily="18" charset="0"/>
              </a:rPr>
              <a:t>phpMyAdmin</a:t>
            </a:r>
            <a:r>
              <a:rPr lang="en-US" sz="2000" dirty="0">
                <a:latin typeface="Times New Roman" panose="02020603050405020304" pitchFamily="18" charset="0"/>
                <a:cs typeface="Times New Roman" panose="02020603050405020304" pitchFamily="18" charset="0"/>
              </a:rPr>
              <a:t> – Tool used to create and manage the MySQL database.</a:t>
            </a:r>
          </a:p>
          <a:p>
            <a:pPr algn="just"/>
            <a:r>
              <a:rPr lang="en-US" sz="2000" b="1" dirty="0" err="1">
                <a:latin typeface="Times New Roman" panose="02020603050405020304" pitchFamily="18" charset="0"/>
                <a:cs typeface="Times New Roman" panose="02020603050405020304" pitchFamily="18" charset="0"/>
              </a:rPr>
              <a:t>InfinityFree</a:t>
            </a:r>
            <a:r>
              <a:rPr lang="en-US" sz="2000" dirty="0">
                <a:latin typeface="Times New Roman" panose="02020603050405020304" pitchFamily="18" charset="0"/>
                <a:cs typeface="Times New Roman" panose="02020603050405020304" pitchFamily="18" charset="0"/>
              </a:rPr>
              <a:t> – Used for deploying and hosting the project online.</a:t>
            </a:r>
          </a:p>
          <a:p>
            <a:pPr algn="just"/>
            <a:r>
              <a:rPr lang="en-US" sz="2000" b="1" dirty="0">
                <a:latin typeface="Times New Roman" panose="02020603050405020304" pitchFamily="18" charset="0"/>
                <a:cs typeface="Times New Roman" panose="02020603050405020304" pitchFamily="18" charset="0"/>
              </a:rPr>
              <a:t>FPDF Library</a:t>
            </a:r>
            <a:r>
              <a:rPr lang="en-US" sz="2000" dirty="0">
                <a:latin typeface="Times New Roman" panose="02020603050405020304" pitchFamily="18" charset="0"/>
                <a:cs typeface="Times New Roman" panose="02020603050405020304" pitchFamily="18" charset="0"/>
              </a:rPr>
              <a:t> – Used to generate downloadable PDF certificates.</a:t>
            </a:r>
          </a:p>
          <a:p>
            <a:pPr algn="just"/>
            <a:r>
              <a:rPr lang="en-US" sz="2000" b="1" dirty="0">
                <a:latin typeface="Times New Roman" panose="02020603050405020304" pitchFamily="18" charset="0"/>
                <a:cs typeface="Times New Roman" panose="02020603050405020304" pitchFamily="18" charset="0"/>
              </a:rPr>
              <a:t>Web Browser (Chrome/Edge)</a:t>
            </a:r>
            <a:r>
              <a:rPr lang="en-US" sz="2000" dirty="0">
                <a:latin typeface="Times New Roman" panose="02020603050405020304" pitchFamily="18" charset="0"/>
                <a:cs typeface="Times New Roman" panose="02020603050405020304" pitchFamily="18" charset="0"/>
              </a:rPr>
              <a:t> – Used for testing and running the web application.</a:t>
            </a:r>
          </a:p>
          <a:p>
            <a:pPr algn="just"/>
            <a:r>
              <a:rPr lang="en-US" sz="2000" b="1" dirty="0">
                <a:latin typeface="Times New Roman" panose="02020603050405020304" pitchFamily="18" charset="0"/>
                <a:cs typeface="Times New Roman" panose="02020603050405020304" pitchFamily="18" charset="0"/>
              </a:rPr>
              <a:t>Code Editor (VS Code / Notepad++)</a:t>
            </a:r>
            <a:r>
              <a:rPr lang="en-US" sz="2000" dirty="0">
                <a:latin typeface="Times New Roman" panose="02020603050405020304" pitchFamily="18" charset="0"/>
                <a:cs typeface="Times New Roman" panose="02020603050405020304" pitchFamily="18" charset="0"/>
              </a:rPr>
              <a:t> – Used to write and edit the project code.</a:t>
            </a:r>
          </a:p>
          <a:p>
            <a:endParaRPr lang="en-IN" dirty="0"/>
          </a:p>
        </p:txBody>
      </p:sp>
      <p:sp>
        <p:nvSpPr>
          <p:cNvPr id="9" name="TextBox 8">
            <a:extLst>
              <a:ext uri="{FF2B5EF4-FFF2-40B4-BE49-F238E27FC236}">
                <a16:creationId xmlns:a16="http://schemas.microsoft.com/office/drawing/2014/main" id="{8228DE47-4288-1ED1-98B4-3FFA0EE021C5}"/>
              </a:ext>
            </a:extLst>
          </p:cNvPr>
          <p:cNvSpPr txBox="1"/>
          <p:nvPr/>
        </p:nvSpPr>
        <p:spPr>
          <a:xfrm>
            <a:off x="9829800" y="5862439"/>
            <a:ext cx="6248400" cy="2308324"/>
          </a:xfrm>
          <a:prstGeom prst="rect">
            <a:avLst/>
          </a:prstGeom>
          <a:noFill/>
        </p:spPr>
        <p:txBody>
          <a:bodyPr wrap="square" rtlCol="0">
            <a:spAutoFit/>
          </a:bodyPr>
          <a:lstStyle/>
          <a:p>
            <a:pPr algn="just"/>
            <a:r>
              <a:rPr lang="en-IN" sz="2600" b="1" dirty="0">
                <a:latin typeface="Times New Roman" panose="02020603050405020304" pitchFamily="18" charset="0"/>
                <a:cs typeface="Times New Roman" panose="02020603050405020304" pitchFamily="18" charset="0"/>
              </a:rPr>
              <a:t>Software Requirements</a:t>
            </a:r>
          </a:p>
          <a:p>
            <a:pPr algn="just"/>
            <a:r>
              <a:rPr lang="en-IN" sz="2000" dirty="0">
                <a:latin typeface="Times New Roman" panose="02020603050405020304" pitchFamily="18" charset="0"/>
                <a:cs typeface="Times New Roman" panose="02020603050405020304" pitchFamily="18" charset="0"/>
              </a:rPr>
              <a:t>Windows Operating System</a:t>
            </a:r>
          </a:p>
          <a:p>
            <a:pPr algn="just"/>
            <a:r>
              <a:rPr lang="en-IN" sz="2000" dirty="0">
                <a:latin typeface="Times New Roman" panose="02020603050405020304" pitchFamily="18" charset="0"/>
                <a:cs typeface="Times New Roman" panose="02020603050405020304" pitchFamily="18" charset="0"/>
              </a:rPr>
              <a:t>XAMPP Server</a:t>
            </a:r>
          </a:p>
          <a:p>
            <a:pPr algn="just"/>
            <a:r>
              <a:rPr lang="en-IN" sz="2000" dirty="0">
                <a:latin typeface="Times New Roman" panose="02020603050405020304" pitchFamily="18" charset="0"/>
                <a:cs typeface="Times New Roman" panose="02020603050405020304" pitchFamily="18" charset="0"/>
              </a:rPr>
              <a:t>Web Browser (Google Chrome / Microsoft Edge)</a:t>
            </a:r>
          </a:p>
          <a:p>
            <a:pPr algn="just"/>
            <a:r>
              <a:rPr lang="en-IN" sz="2000" dirty="0">
                <a:latin typeface="Times New Roman" panose="02020603050405020304" pitchFamily="18" charset="0"/>
                <a:cs typeface="Times New Roman" panose="02020603050405020304" pitchFamily="18" charset="0"/>
              </a:rPr>
              <a:t>Code Editor (VS Code / Notepad++)</a:t>
            </a:r>
          </a:p>
          <a:p>
            <a:pPr algn="just"/>
            <a:r>
              <a:rPr lang="en-IN" sz="2000" dirty="0" err="1">
                <a:latin typeface="Times New Roman" panose="02020603050405020304" pitchFamily="18" charset="0"/>
                <a:cs typeface="Times New Roman" panose="02020603050405020304" pitchFamily="18" charset="0"/>
              </a:rPr>
              <a:t>InfinityFree</a:t>
            </a:r>
            <a:r>
              <a:rPr lang="en-IN" sz="2000" dirty="0">
                <a:latin typeface="Times New Roman" panose="02020603050405020304" pitchFamily="18" charset="0"/>
                <a:cs typeface="Times New Roman" panose="02020603050405020304" pitchFamily="18" charset="0"/>
              </a:rPr>
              <a:t> Hosting Account</a:t>
            </a:r>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2022934"/>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E190060-72D2-B598-4258-D2E7A9FC274E}"/>
              </a:ext>
            </a:extLst>
          </p:cNvPr>
          <p:cNvSpPr txBox="1"/>
          <p:nvPr/>
        </p:nvSpPr>
        <p:spPr>
          <a:xfrm>
            <a:off x="1895460" y="1536046"/>
            <a:ext cx="6781800" cy="4370427"/>
          </a:xfrm>
          <a:prstGeom prst="rect">
            <a:avLst/>
          </a:prstGeom>
          <a:noFill/>
        </p:spPr>
        <p:txBody>
          <a:bodyPr wrap="square" rtlCol="0">
            <a:spAutoFit/>
          </a:bodyPr>
          <a:lstStyle/>
          <a:p>
            <a:pPr algn="just"/>
            <a:r>
              <a:rPr lang="en-US" sz="2600" b="1" dirty="0">
                <a:latin typeface="Times New Roman" panose="02020603050405020304" pitchFamily="18" charset="0"/>
                <a:cs typeface="Times New Roman" panose="02020603050405020304" pitchFamily="18" charset="0"/>
              </a:rPr>
              <a:t>Module 1: User Management</a:t>
            </a:r>
          </a:p>
          <a:p>
            <a:pPr algn="just">
              <a:lnSpc>
                <a:spcPct val="150000"/>
              </a:lnSpc>
            </a:pPr>
            <a:r>
              <a:rPr lang="en-US" sz="2600" dirty="0">
                <a:latin typeface="Times New Roman" panose="02020603050405020304" pitchFamily="18" charset="0"/>
                <a:cs typeface="Times New Roman" panose="02020603050405020304" pitchFamily="18" charset="0"/>
              </a:rPr>
              <a:t>Handles user registration and login with secure authentication. It allows users to create accounts, log in to the system, and access the quiz interface. Session management is used to maintain user login status and restrict unauthorized access.</a:t>
            </a:r>
          </a:p>
          <a:p>
            <a:endParaRPr lang="en-IN" dirty="0"/>
          </a:p>
        </p:txBody>
      </p:sp>
      <p:sp>
        <p:nvSpPr>
          <p:cNvPr id="4" name="TextBox 3">
            <a:extLst>
              <a:ext uri="{FF2B5EF4-FFF2-40B4-BE49-F238E27FC236}">
                <a16:creationId xmlns:a16="http://schemas.microsoft.com/office/drawing/2014/main" id="{EA6EABDF-5F66-D91E-436A-42092CB67E4D}"/>
              </a:ext>
            </a:extLst>
          </p:cNvPr>
          <p:cNvSpPr txBox="1"/>
          <p:nvPr/>
        </p:nvSpPr>
        <p:spPr>
          <a:xfrm>
            <a:off x="9809381" y="1536046"/>
            <a:ext cx="6477000" cy="4370427"/>
          </a:xfrm>
          <a:prstGeom prst="rect">
            <a:avLst/>
          </a:prstGeom>
          <a:noFill/>
        </p:spPr>
        <p:txBody>
          <a:bodyPr wrap="square" rtlCol="0">
            <a:spAutoFit/>
          </a:bodyPr>
          <a:lstStyle/>
          <a:p>
            <a:pPr algn="just"/>
            <a:r>
              <a:rPr lang="en-US" sz="2600" b="1" dirty="0">
                <a:latin typeface="Times New Roman" panose="02020603050405020304" pitchFamily="18" charset="0"/>
                <a:cs typeface="Times New Roman" panose="02020603050405020304" pitchFamily="18" charset="0"/>
              </a:rPr>
              <a:t>Module 2: Quiz Management</a:t>
            </a:r>
          </a:p>
          <a:p>
            <a:pPr algn="just">
              <a:lnSpc>
                <a:spcPct val="150000"/>
              </a:lnSpc>
            </a:pPr>
            <a:r>
              <a:rPr lang="en-US" sz="2600" dirty="0">
                <a:latin typeface="Times New Roman" panose="02020603050405020304" pitchFamily="18" charset="0"/>
                <a:cs typeface="Times New Roman" panose="02020603050405020304" pitchFamily="18" charset="0"/>
              </a:rPr>
              <a:t>Manages quiz-related operations such as displaying quiz questions, collecting user responses, and validating answers. The system retrieves questions from the database and allows users to attempt the quiz through an interactive interface.</a:t>
            </a:r>
          </a:p>
          <a:p>
            <a:endParaRPr lang="en-IN" dirty="0"/>
          </a:p>
        </p:txBody>
      </p:sp>
      <p:sp>
        <p:nvSpPr>
          <p:cNvPr id="5" name="TextBox 4">
            <a:extLst>
              <a:ext uri="{FF2B5EF4-FFF2-40B4-BE49-F238E27FC236}">
                <a16:creationId xmlns:a16="http://schemas.microsoft.com/office/drawing/2014/main" id="{3A31DCC2-EFD8-B5F2-FAAE-EBC5106A82D9}"/>
              </a:ext>
            </a:extLst>
          </p:cNvPr>
          <p:cNvSpPr txBox="1"/>
          <p:nvPr/>
        </p:nvSpPr>
        <p:spPr>
          <a:xfrm>
            <a:off x="1895460" y="5811456"/>
            <a:ext cx="6553200" cy="4170372"/>
          </a:xfrm>
          <a:prstGeom prst="rect">
            <a:avLst/>
          </a:prstGeom>
          <a:noFill/>
        </p:spPr>
        <p:txBody>
          <a:bodyPr wrap="square" rtlCol="0">
            <a:spAutoFit/>
          </a:bodyPr>
          <a:lstStyle/>
          <a:p>
            <a:pPr algn="just"/>
            <a:r>
              <a:rPr lang="en-US" sz="2600" b="1" dirty="0">
                <a:latin typeface="Times New Roman" panose="02020603050405020304" pitchFamily="18" charset="0"/>
                <a:cs typeface="Times New Roman" panose="02020603050405020304" pitchFamily="18" charset="0"/>
              </a:rPr>
              <a:t>Module 3: Result Processing &amp; Certificate Generation</a:t>
            </a:r>
          </a:p>
          <a:p>
            <a:pPr algn="just">
              <a:lnSpc>
                <a:spcPct val="150000"/>
              </a:lnSpc>
            </a:pPr>
            <a:r>
              <a:rPr lang="en-US" sz="2600" dirty="0">
                <a:latin typeface="Times New Roman" panose="02020603050405020304" pitchFamily="18" charset="0"/>
                <a:cs typeface="Times New Roman" panose="02020603050405020304" pitchFamily="18" charset="0"/>
              </a:rPr>
              <a:t>Processes quiz submissions, calculates scores and percentages, and stores results in the database. If the user meets the passing criteria, the system generates a downloadable </a:t>
            </a:r>
            <a:r>
              <a:rPr lang="en-US" sz="2600" b="1" dirty="0">
                <a:latin typeface="Times New Roman" panose="02020603050405020304" pitchFamily="18" charset="0"/>
                <a:cs typeface="Times New Roman" panose="02020603050405020304" pitchFamily="18" charset="0"/>
              </a:rPr>
              <a:t>PDF certificate</a:t>
            </a:r>
            <a:r>
              <a:rPr lang="en-US" sz="2600" dirty="0">
                <a:latin typeface="Times New Roman" panose="02020603050405020304" pitchFamily="18" charset="0"/>
                <a:cs typeface="Times New Roman" panose="02020603050405020304" pitchFamily="18" charset="0"/>
              </a:rPr>
              <a:t> using the FPDF library.</a:t>
            </a:r>
          </a:p>
          <a:p>
            <a:endParaRPr lang="en-IN" dirty="0"/>
          </a:p>
        </p:txBody>
      </p:sp>
      <p:sp>
        <p:nvSpPr>
          <p:cNvPr id="6" name="TextBox 5">
            <a:extLst>
              <a:ext uri="{FF2B5EF4-FFF2-40B4-BE49-F238E27FC236}">
                <a16:creationId xmlns:a16="http://schemas.microsoft.com/office/drawing/2014/main" id="{138FC922-0383-5FE5-CE7C-02894C9231BD}"/>
              </a:ext>
            </a:extLst>
          </p:cNvPr>
          <p:cNvSpPr txBox="1"/>
          <p:nvPr/>
        </p:nvSpPr>
        <p:spPr>
          <a:xfrm>
            <a:off x="9864980" y="5811456"/>
            <a:ext cx="6448440" cy="3770263"/>
          </a:xfrm>
          <a:prstGeom prst="rect">
            <a:avLst/>
          </a:prstGeom>
          <a:noFill/>
        </p:spPr>
        <p:txBody>
          <a:bodyPr wrap="square" rtlCol="0">
            <a:spAutoFit/>
          </a:bodyPr>
          <a:lstStyle/>
          <a:p>
            <a:pPr algn="just"/>
            <a:r>
              <a:rPr lang="en-US" sz="2600" b="1" dirty="0">
                <a:latin typeface="Times New Roman" panose="02020603050405020304" pitchFamily="18" charset="0"/>
                <a:cs typeface="Times New Roman" panose="02020603050405020304" pitchFamily="18" charset="0"/>
              </a:rPr>
              <a:t>Module 4: Admin Management</a:t>
            </a:r>
          </a:p>
          <a:p>
            <a:pPr algn="just">
              <a:lnSpc>
                <a:spcPct val="150000"/>
              </a:lnSpc>
            </a:pPr>
            <a:r>
              <a:rPr lang="en-US" sz="2600" dirty="0">
                <a:latin typeface="Times New Roman" panose="02020603050405020304" pitchFamily="18" charset="0"/>
                <a:cs typeface="Times New Roman" panose="02020603050405020304" pitchFamily="18" charset="0"/>
              </a:rPr>
              <a:t>Allows the administrator to manage the quiz system. The admin can log in securely, add new quiz questions, and monitor system data. This module ensures proper control over quiz content and system functionality.</a:t>
            </a: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A2C5884-3150-68A1-07E2-DC1D2F1C4E42}"/>
              </a:ext>
            </a:extLst>
          </p:cNvPr>
          <p:cNvPicPr>
            <a:picLocks noChangeAspect="1"/>
          </p:cNvPicPr>
          <p:nvPr/>
        </p:nvPicPr>
        <p:blipFill>
          <a:blip r:embed="rId4"/>
          <a:stretch>
            <a:fillRect/>
          </a:stretch>
        </p:blipFill>
        <p:spPr>
          <a:xfrm>
            <a:off x="1602594" y="3159080"/>
            <a:ext cx="15082811" cy="3968840"/>
          </a:xfrm>
          <a:prstGeom prst="rect">
            <a:avLst/>
          </a:prstGeom>
        </p:spPr>
      </p:pic>
      <p:pic>
        <p:nvPicPr>
          <p:cNvPr id="4" name="Picture 3">
            <a:extLst>
              <a:ext uri="{FF2B5EF4-FFF2-40B4-BE49-F238E27FC236}">
                <a16:creationId xmlns:a16="http://schemas.microsoft.com/office/drawing/2014/main" id="{0BAD3E49-3544-0E9C-7455-09E7D0862957}"/>
              </a:ext>
            </a:extLst>
          </p:cNvPr>
          <p:cNvPicPr>
            <a:picLocks noChangeAspect="1"/>
          </p:cNvPicPr>
          <p:nvPr/>
        </p:nvPicPr>
        <p:blipFill>
          <a:blip r:embed="rId5"/>
          <a:stretch>
            <a:fillRect/>
          </a:stretch>
        </p:blipFill>
        <p:spPr>
          <a:xfrm>
            <a:off x="3581400" y="2179199"/>
            <a:ext cx="11622895" cy="5487411"/>
          </a:xfrm>
          <a:prstGeom prst="rect">
            <a:avLst/>
          </a:prstGeom>
        </p:spPr>
      </p:pic>
      <p:sp>
        <p:nvSpPr>
          <p:cNvPr id="6" name="TextBox 5">
            <a:extLst>
              <a:ext uri="{FF2B5EF4-FFF2-40B4-BE49-F238E27FC236}">
                <a16:creationId xmlns:a16="http://schemas.microsoft.com/office/drawing/2014/main" id="{E58391FF-22FB-B6E8-49B9-1264FE5EF2FE}"/>
              </a:ext>
            </a:extLst>
          </p:cNvPr>
          <p:cNvSpPr txBox="1"/>
          <p:nvPr/>
        </p:nvSpPr>
        <p:spPr>
          <a:xfrm>
            <a:off x="2491311" y="1546374"/>
            <a:ext cx="4460095" cy="492443"/>
          </a:xfrm>
          <a:prstGeom prst="rect">
            <a:avLst/>
          </a:prstGeom>
          <a:noFill/>
        </p:spPr>
        <p:txBody>
          <a:bodyPr wrap="square" rtlCol="0">
            <a:spAutoFit/>
          </a:bodyPr>
          <a:lstStyle/>
          <a:p>
            <a:r>
              <a:rPr lang="en-IN" sz="2600" b="1" dirty="0">
                <a:latin typeface="Times New Roman" panose="02020603050405020304" pitchFamily="18" charset="0"/>
                <a:cs typeface="Times New Roman" panose="02020603050405020304" pitchFamily="18" charset="0"/>
              </a:rPr>
              <a:t>HOME PAGE</a:t>
            </a:r>
          </a:p>
        </p:txBody>
      </p:sp>
      <p:sp>
        <p:nvSpPr>
          <p:cNvPr id="35" name="TextBox 34">
            <a:extLst>
              <a:ext uri="{FF2B5EF4-FFF2-40B4-BE49-F238E27FC236}">
                <a16:creationId xmlns:a16="http://schemas.microsoft.com/office/drawing/2014/main" id="{9721D985-972B-7FE2-DEB7-DE134C75EEF3}"/>
              </a:ext>
            </a:extLst>
          </p:cNvPr>
          <p:cNvSpPr txBox="1"/>
          <p:nvPr/>
        </p:nvSpPr>
        <p:spPr>
          <a:xfrm>
            <a:off x="2491311" y="7998005"/>
            <a:ext cx="14173200" cy="1220783"/>
          </a:xfrm>
          <a:prstGeom prst="rect">
            <a:avLst/>
          </a:prstGeom>
          <a:noFill/>
        </p:spPr>
        <p:txBody>
          <a:bodyPr wrap="square" rtlCol="0">
            <a:spAutoFit/>
          </a:bodyPr>
          <a:lstStyle/>
          <a:p>
            <a:pPr algn="just">
              <a:lnSpc>
                <a:spcPct val="150000"/>
              </a:lnSpc>
            </a:pPr>
            <a:r>
              <a:rPr lang="en-US" sz="2600" dirty="0">
                <a:latin typeface="Times New Roman" panose="02020603050405020304" pitchFamily="18" charset="0"/>
                <a:cs typeface="Times New Roman" panose="02020603050405020304" pitchFamily="18" charset="0"/>
              </a:rPr>
              <a:t>The home page is the first screen displayed when the Online Quiz System is opened. It allows users to easily navigate to the registration page, login page, or admin login to access and manage the quiz system.</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523798" y="1593357"/>
            <a:ext cx="15082325" cy="492443"/>
          </a:xfrm>
          <a:prstGeom prst="rect">
            <a:avLst/>
          </a:prstGeom>
          <a:noFill/>
        </p:spPr>
        <p:txBody>
          <a:bodyPr wrap="square" rtlCol="0">
            <a:spAutoFit/>
          </a:bodyPr>
          <a:lstStyle/>
          <a:p>
            <a:r>
              <a:rPr lang="en-IN" sz="2600" b="1" dirty="0">
                <a:latin typeface="Times New Roman" panose="02020603050405020304" pitchFamily="18" charset="0"/>
                <a:cs typeface="Times New Roman" panose="02020603050405020304" pitchFamily="18" charset="0"/>
              </a:rPr>
              <a:t>LOGIN PAGE</a:t>
            </a:r>
          </a:p>
        </p:txBody>
      </p:sp>
      <p:pic>
        <p:nvPicPr>
          <p:cNvPr id="3" name="Picture 2">
            <a:extLst>
              <a:ext uri="{FF2B5EF4-FFF2-40B4-BE49-F238E27FC236}">
                <a16:creationId xmlns:a16="http://schemas.microsoft.com/office/drawing/2014/main" id="{9FDE3F01-A029-D11A-4957-A8B5D2ABCCB4}"/>
              </a:ext>
            </a:extLst>
          </p:cNvPr>
          <p:cNvPicPr>
            <a:picLocks noChangeAspect="1"/>
          </p:cNvPicPr>
          <p:nvPr/>
        </p:nvPicPr>
        <p:blipFill>
          <a:blip r:embed="rId4"/>
          <a:stretch>
            <a:fillRect/>
          </a:stretch>
        </p:blipFill>
        <p:spPr>
          <a:xfrm>
            <a:off x="2133600" y="2451011"/>
            <a:ext cx="7479772" cy="3535254"/>
          </a:xfrm>
          <a:prstGeom prst="rect">
            <a:avLst/>
          </a:prstGeom>
        </p:spPr>
      </p:pic>
      <p:pic>
        <p:nvPicPr>
          <p:cNvPr id="5" name="Picture 4">
            <a:extLst>
              <a:ext uri="{FF2B5EF4-FFF2-40B4-BE49-F238E27FC236}">
                <a16:creationId xmlns:a16="http://schemas.microsoft.com/office/drawing/2014/main" id="{EA513646-2168-1440-718F-60C2A4023956}"/>
              </a:ext>
            </a:extLst>
          </p:cNvPr>
          <p:cNvPicPr>
            <a:picLocks noChangeAspect="1"/>
          </p:cNvPicPr>
          <p:nvPr/>
        </p:nvPicPr>
        <p:blipFill>
          <a:blip r:embed="rId5"/>
          <a:stretch>
            <a:fillRect/>
          </a:stretch>
        </p:blipFill>
        <p:spPr>
          <a:xfrm>
            <a:off x="9613372" y="6020589"/>
            <a:ext cx="7479772" cy="3546746"/>
          </a:xfrm>
          <a:prstGeom prst="rect">
            <a:avLst/>
          </a:prstGeom>
        </p:spPr>
      </p:pic>
      <p:sp>
        <p:nvSpPr>
          <p:cNvPr id="6" name="TextBox 5">
            <a:extLst>
              <a:ext uri="{FF2B5EF4-FFF2-40B4-BE49-F238E27FC236}">
                <a16:creationId xmlns:a16="http://schemas.microsoft.com/office/drawing/2014/main" id="{BEB4A522-92A0-15AC-98A3-01A20808CC7F}"/>
              </a:ext>
            </a:extLst>
          </p:cNvPr>
          <p:cNvSpPr txBox="1"/>
          <p:nvPr/>
        </p:nvSpPr>
        <p:spPr>
          <a:xfrm>
            <a:off x="10064961" y="2505260"/>
            <a:ext cx="7347099" cy="3021276"/>
          </a:xfrm>
          <a:prstGeom prst="rect">
            <a:avLst/>
          </a:prstGeom>
          <a:noFill/>
        </p:spPr>
        <p:txBody>
          <a:bodyPr wrap="square" rtlCol="0">
            <a:spAutoFit/>
          </a:bodyPr>
          <a:lstStyle/>
          <a:p>
            <a:pPr algn="just">
              <a:lnSpc>
                <a:spcPct val="150000"/>
              </a:lnSpc>
            </a:pPr>
            <a:r>
              <a:rPr lang="en-US" sz="2600" dirty="0">
                <a:latin typeface="Times New Roman" panose="02020603050405020304" pitchFamily="18" charset="0"/>
                <a:cs typeface="Times New Roman" panose="02020603050405020304" pitchFamily="18" charset="0"/>
              </a:rPr>
              <a:t>The user login page allows registered users to securely access the Online Quiz System using their email and password. After successful authentication, users are redirected to the quiz interface where they can attempt the quiz and track their results.</a:t>
            </a:r>
            <a:endParaRPr lang="en-IN" sz="2600"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63FDDC6A-1E3E-F0C9-810E-D9FCFDDCD3CE}"/>
              </a:ext>
            </a:extLst>
          </p:cNvPr>
          <p:cNvSpPr txBox="1"/>
          <p:nvPr/>
        </p:nvSpPr>
        <p:spPr>
          <a:xfrm>
            <a:off x="2209800" y="6261285"/>
            <a:ext cx="6934200" cy="3370153"/>
          </a:xfrm>
          <a:prstGeom prst="rect">
            <a:avLst/>
          </a:prstGeom>
          <a:noFill/>
        </p:spPr>
        <p:txBody>
          <a:bodyPr wrap="square" rtlCol="0">
            <a:spAutoFit/>
          </a:bodyPr>
          <a:lstStyle/>
          <a:p>
            <a:pPr algn="just">
              <a:lnSpc>
                <a:spcPct val="150000"/>
              </a:lnSpc>
            </a:pPr>
            <a:r>
              <a:rPr lang="en-US" sz="2600" dirty="0">
                <a:latin typeface="Times New Roman" panose="02020603050405020304" pitchFamily="18" charset="0"/>
                <a:cs typeface="Times New Roman" panose="02020603050405020304" pitchFamily="18" charset="0"/>
              </a:rPr>
              <a:t>The admin login page allows the administrator to securely access the system using a username and password. After logging in, the admin can manage quiz questions and control different functionalities of the Online Quiz System.</a:t>
            </a:r>
          </a:p>
          <a:p>
            <a:endParaRPr lang="en-IN" dirty="0"/>
          </a:p>
        </p:txBody>
      </p:sp>
      <p:pic>
        <p:nvPicPr>
          <p:cNvPr id="36" name="Picture 35">
            <a:extLst>
              <a:ext uri="{FF2B5EF4-FFF2-40B4-BE49-F238E27FC236}">
                <a16:creationId xmlns:a16="http://schemas.microsoft.com/office/drawing/2014/main" id="{EBE2D550-0075-6C88-B0D6-EB86078619C8}"/>
              </a:ext>
            </a:extLst>
          </p:cNvPr>
          <p:cNvPicPr>
            <a:picLocks noChangeAspect="1"/>
          </p:cNvPicPr>
          <p:nvPr/>
        </p:nvPicPr>
        <p:blipFill>
          <a:blip r:embed="rId5"/>
          <a:stretch>
            <a:fillRect/>
          </a:stretch>
        </p:blipFill>
        <p:spPr>
          <a:xfrm>
            <a:off x="9765772" y="6172989"/>
            <a:ext cx="7479772" cy="3546746"/>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1BE9CAD-7612-B659-8483-826482E282D4}"/>
              </a:ext>
            </a:extLst>
          </p:cNvPr>
          <p:cNvPicPr>
            <a:picLocks noChangeAspect="1"/>
          </p:cNvPicPr>
          <p:nvPr/>
        </p:nvPicPr>
        <p:blipFill>
          <a:blip r:embed="rId4"/>
          <a:stretch>
            <a:fillRect/>
          </a:stretch>
        </p:blipFill>
        <p:spPr>
          <a:xfrm>
            <a:off x="2015613" y="2805151"/>
            <a:ext cx="6975987" cy="2631902"/>
          </a:xfrm>
          <a:prstGeom prst="rect">
            <a:avLst/>
          </a:prstGeom>
        </p:spPr>
      </p:pic>
      <p:pic>
        <p:nvPicPr>
          <p:cNvPr id="6" name="Picture 5">
            <a:extLst>
              <a:ext uri="{FF2B5EF4-FFF2-40B4-BE49-F238E27FC236}">
                <a16:creationId xmlns:a16="http://schemas.microsoft.com/office/drawing/2014/main" id="{0B60E5B3-A7EE-4F07-18FC-1162F2071348}"/>
              </a:ext>
            </a:extLst>
          </p:cNvPr>
          <p:cNvPicPr>
            <a:picLocks noChangeAspect="1"/>
          </p:cNvPicPr>
          <p:nvPr/>
        </p:nvPicPr>
        <p:blipFill>
          <a:blip r:embed="rId5"/>
          <a:srcRect l="3095" r="2274"/>
          <a:stretch>
            <a:fillRect/>
          </a:stretch>
        </p:blipFill>
        <p:spPr>
          <a:xfrm>
            <a:off x="9296402" y="2812584"/>
            <a:ext cx="7772398" cy="2744450"/>
          </a:xfrm>
          <a:prstGeom prst="rect">
            <a:avLst/>
          </a:prstGeom>
        </p:spPr>
      </p:pic>
      <p:sp>
        <p:nvSpPr>
          <p:cNvPr id="36" name="TextBox 35">
            <a:extLst>
              <a:ext uri="{FF2B5EF4-FFF2-40B4-BE49-F238E27FC236}">
                <a16:creationId xmlns:a16="http://schemas.microsoft.com/office/drawing/2014/main" id="{531C70AD-B99D-E623-6D19-C4227F240607}"/>
              </a:ext>
            </a:extLst>
          </p:cNvPr>
          <p:cNvSpPr txBox="1"/>
          <p:nvPr/>
        </p:nvSpPr>
        <p:spPr>
          <a:xfrm>
            <a:off x="1869651" y="5572374"/>
            <a:ext cx="11389149" cy="492443"/>
          </a:xfrm>
          <a:prstGeom prst="rect">
            <a:avLst/>
          </a:prstGeom>
          <a:noFill/>
        </p:spPr>
        <p:txBody>
          <a:bodyPr wrap="square" rtlCol="0">
            <a:spAutoFit/>
          </a:bodyPr>
          <a:lstStyle/>
          <a:p>
            <a:r>
              <a:rPr lang="en-IN" sz="2600" b="1" dirty="0">
                <a:latin typeface="Times New Roman" panose="02020603050405020304" pitchFamily="18" charset="0"/>
                <a:cs typeface="Times New Roman" panose="02020603050405020304" pitchFamily="18" charset="0"/>
              </a:rPr>
              <a:t>ADMIN QUESTION MANAGEMENT MODULE</a:t>
            </a:r>
          </a:p>
        </p:txBody>
      </p:sp>
      <p:pic>
        <p:nvPicPr>
          <p:cNvPr id="38" name="Picture 37">
            <a:extLst>
              <a:ext uri="{FF2B5EF4-FFF2-40B4-BE49-F238E27FC236}">
                <a16:creationId xmlns:a16="http://schemas.microsoft.com/office/drawing/2014/main" id="{CF70D58B-9B4A-6C83-4564-33AC46215A3B}"/>
              </a:ext>
            </a:extLst>
          </p:cNvPr>
          <p:cNvPicPr>
            <a:picLocks noChangeAspect="1"/>
          </p:cNvPicPr>
          <p:nvPr/>
        </p:nvPicPr>
        <p:blipFill>
          <a:blip r:embed="rId6"/>
          <a:srcRect l="18034" t="4822" r="21500" b="13940"/>
          <a:stretch>
            <a:fillRect/>
          </a:stretch>
        </p:blipFill>
        <p:spPr>
          <a:xfrm>
            <a:off x="1843435" y="6920085"/>
            <a:ext cx="4709068" cy="2769131"/>
          </a:xfrm>
          <a:prstGeom prst="rect">
            <a:avLst/>
          </a:prstGeom>
        </p:spPr>
      </p:pic>
      <p:pic>
        <p:nvPicPr>
          <p:cNvPr id="40" name="Picture 39">
            <a:extLst>
              <a:ext uri="{FF2B5EF4-FFF2-40B4-BE49-F238E27FC236}">
                <a16:creationId xmlns:a16="http://schemas.microsoft.com/office/drawing/2014/main" id="{BE5381BF-08CA-8111-B0D2-99C0A2132EF4}"/>
              </a:ext>
            </a:extLst>
          </p:cNvPr>
          <p:cNvPicPr>
            <a:picLocks noChangeAspect="1"/>
          </p:cNvPicPr>
          <p:nvPr/>
        </p:nvPicPr>
        <p:blipFill>
          <a:blip r:embed="rId7"/>
          <a:stretch>
            <a:fillRect/>
          </a:stretch>
        </p:blipFill>
        <p:spPr>
          <a:xfrm>
            <a:off x="6601998" y="6988739"/>
            <a:ext cx="5201656" cy="2631821"/>
          </a:xfrm>
          <a:prstGeom prst="rect">
            <a:avLst/>
          </a:prstGeom>
        </p:spPr>
      </p:pic>
      <p:pic>
        <p:nvPicPr>
          <p:cNvPr id="42" name="Picture 41">
            <a:extLst>
              <a:ext uri="{FF2B5EF4-FFF2-40B4-BE49-F238E27FC236}">
                <a16:creationId xmlns:a16="http://schemas.microsoft.com/office/drawing/2014/main" id="{BE592744-CA9C-DFFB-F7F3-38FB46F09AEB}"/>
              </a:ext>
            </a:extLst>
          </p:cNvPr>
          <p:cNvPicPr>
            <a:picLocks noChangeAspect="1"/>
          </p:cNvPicPr>
          <p:nvPr/>
        </p:nvPicPr>
        <p:blipFill>
          <a:blip r:embed="rId8"/>
          <a:stretch>
            <a:fillRect/>
          </a:stretch>
        </p:blipFill>
        <p:spPr>
          <a:xfrm>
            <a:off x="11876732" y="6915908"/>
            <a:ext cx="5565431" cy="2675519"/>
          </a:xfrm>
          <a:prstGeom prst="rect">
            <a:avLst/>
          </a:prstGeom>
        </p:spPr>
      </p:pic>
      <p:sp>
        <p:nvSpPr>
          <p:cNvPr id="46" name="TextBox 45">
            <a:extLst>
              <a:ext uri="{FF2B5EF4-FFF2-40B4-BE49-F238E27FC236}">
                <a16:creationId xmlns:a16="http://schemas.microsoft.com/office/drawing/2014/main" id="{6DC5B551-9353-2757-4161-DB5AC4F55C04}"/>
              </a:ext>
            </a:extLst>
          </p:cNvPr>
          <p:cNvSpPr txBox="1"/>
          <p:nvPr/>
        </p:nvSpPr>
        <p:spPr>
          <a:xfrm>
            <a:off x="2040194" y="1311356"/>
            <a:ext cx="7937091" cy="492443"/>
          </a:xfrm>
          <a:prstGeom prst="rect">
            <a:avLst/>
          </a:prstGeom>
          <a:noFill/>
        </p:spPr>
        <p:txBody>
          <a:bodyPr wrap="square" rtlCol="0">
            <a:spAutoFit/>
          </a:bodyPr>
          <a:lstStyle/>
          <a:p>
            <a:r>
              <a:rPr lang="en-IN" sz="2600" b="1" dirty="0">
                <a:latin typeface="Times New Roman" panose="02020603050405020304" pitchFamily="18" charset="0"/>
                <a:cs typeface="Times New Roman" panose="02020603050405020304" pitchFamily="18" charset="0"/>
              </a:rPr>
              <a:t>MAIN MODULE: QUIZ MODULE</a:t>
            </a:r>
          </a:p>
        </p:txBody>
      </p:sp>
      <p:sp>
        <p:nvSpPr>
          <p:cNvPr id="47" name="TextBox 46">
            <a:extLst>
              <a:ext uri="{FF2B5EF4-FFF2-40B4-BE49-F238E27FC236}">
                <a16:creationId xmlns:a16="http://schemas.microsoft.com/office/drawing/2014/main" id="{8BBD5716-9713-D085-53D3-7587467F43BC}"/>
              </a:ext>
            </a:extLst>
          </p:cNvPr>
          <p:cNvSpPr txBox="1"/>
          <p:nvPr/>
        </p:nvSpPr>
        <p:spPr>
          <a:xfrm>
            <a:off x="2040194" y="1782573"/>
            <a:ext cx="14554200" cy="892552"/>
          </a:xfrm>
          <a:prstGeom prst="rect">
            <a:avLst/>
          </a:prstGeom>
          <a:noFill/>
        </p:spPr>
        <p:txBody>
          <a:bodyPr wrap="square" rtlCol="0">
            <a:spAutoFit/>
          </a:bodyPr>
          <a:lstStyle/>
          <a:p>
            <a:pPr algn="just"/>
            <a:r>
              <a:rPr lang="en-US" sz="2600" dirty="0">
                <a:latin typeface="Times New Roman" panose="02020603050405020304" pitchFamily="18" charset="0"/>
                <a:cs typeface="Times New Roman" panose="02020603050405020304" pitchFamily="18" charset="0"/>
              </a:rPr>
              <a:t>This module shows quiz questions to the user and allows them to select answers. After submission, the system evaluates the responses and calculates the final score.</a:t>
            </a:r>
            <a:endParaRPr lang="en-IN" sz="2600" dirty="0">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9CE1FC13-2941-8E24-9DE3-E273E3921FF6}"/>
              </a:ext>
            </a:extLst>
          </p:cNvPr>
          <p:cNvSpPr txBox="1"/>
          <p:nvPr/>
        </p:nvSpPr>
        <p:spPr>
          <a:xfrm>
            <a:off x="1917291" y="6016752"/>
            <a:ext cx="14800006" cy="892552"/>
          </a:xfrm>
          <a:prstGeom prst="rect">
            <a:avLst/>
          </a:prstGeom>
          <a:noFill/>
        </p:spPr>
        <p:txBody>
          <a:bodyPr wrap="square" rtlCol="0">
            <a:spAutoFit/>
          </a:bodyPr>
          <a:lstStyle/>
          <a:p>
            <a:pPr algn="just"/>
            <a:r>
              <a:rPr lang="en-US" sz="2600" dirty="0">
                <a:latin typeface="Times New Roman" panose="02020603050405020304" pitchFamily="18" charset="0"/>
                <a:cs typeface="Times New Roman" panose="02020603050405020304" pitchFamily="18" charset="0"/>
              </a:rPr>
              <a:t>This module allows the administrator to add new quiz questions and manage existing questions in the system. It helps maintain and update the quiz content stored in the database.</a:t>
            </a:r>
            <a:endParaRPr lang="en-IN" sz="2600" dirty="0">
              <a:latin typeface="Times New Roman" panose="02020603050405020304" pitchFamily="18" charset="0"/>
              <a:cs typeface="Times New Roman" panose="02020603050405020304" pitchFamily="18" charset="0"/>
            </a:endParaRPr>
          </a:p>
        </p:txBody>
      </p:sp>
      <p:pic>
        <p:nvPicPr>
          <p:cNvPr id="49" name="Picture 48">
            <a:extLst>
              <a:ext uri="{FF2B5EF4-FFF2-40B4-BE49-F238E27FC236}">
                <a16:creationId xmlns:a16="http://schemas.microsoft.com/office/drawing/2014/main" id="{9883FEAA-3452-C1F6-AF4D-CA5A526F78FE}"/>
              </a:ext>
            </a:extLst>
          </p:cNvPr>
          <p:cNvPicPr>
            <a:picLocks noChangeAspect="1"/>
          </p:cNvPicPr>
          <p:nvPr/>
        </p:nvPicPr>
        <p:blipFill>
          <a:blip r:embed="rId8"/>
          <a:stretch>
            <a:fillRect/>
          </a:stretch>
        </p:blipFill>
        <p:spPr>
          <a:xfrm>
            <a:off x="12029132" y="7068308"/>
            <a:ext cx="5565431" cy="2675519"/>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2">
            <a:extLst>
              <a:ext uri="{FF2B5EF4-FFF2-40B4-BE49-F238E27FC236}">
                <a16:creationId xmlns:a16="http://schemas.microsoft.com/office/drawing/2014/main" id="{9B953180-DB27-F046-86E3-E3508247B406}"/>
              </a:ext>
            </a:extLst>
          </p:cNvPr>
          <p:cNvSpPr txBox="1"/>
          <p:nvPr/>
        </p:nvSpPr>
        <p:spPr>
          <a:xfrm>
            <a:off x="190500" y="565682"/>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133599" y="1574777"/>
            <a:ext cx="15082325" cy="492443"/>
          </a:xfrm>
          <a:prstGeom prst="rect">
            <a:avLst/>
          </a:prstGeom>
          <a:noFill/>
        </p:spPr>
        <p:txBody>
          <a:bodyPr wrap="square" rtlCol="0">
            <a:spAutoFit/>
          </a:bodyPr>
          <a:lstStyle/>
          <a:p>
            <a:r>
              <a:rPr lang="en-US" sz="2600" b="1" dirty="0">
                <a:latin typeface="Times New Roman" panose="02020603050405020304" pitchFamily="18" charset="0"/>
                <a:cs typeface="Times New Roman" panose="02020603050405020304" pitchFamily="18" charset="0"/>
              </a:rPr>
              <a:t>OUTPUT:</a:t>
            </a:r>
          </a:p>
        </p:txBody>
      </p:sp>
      <p:pic>
        <p:nvPicPr>
          <p:cNvPr id="3" name="Picture 2">
            <a:extLst>
              <a:ext uri="{FF2B5EF4-FFF2-40B4-BE49-F238E27FC236}">
                <a16:creationId xmlns:a16="http://schemas.microsoft.com/office/drawing/2014/main" id="{28246D75-A4BB-6A3F-59C8-F7962C82ECD7}"/>
              </a:ext>
            </a:extLst>
          </p:cNvPr>
          <p:cNvPicPr>
            <a:picLocks noChangeAspect="1"/>
          </p:cNvPicPr>
          <p:nvPr/>
        </p:nvPicPr>
        <p:blipFill>
          <a:blip r:embed="rId4"/>
          <a:stretch>
            <a:fillRect/>
          </a:stretch>
        </p:blipFill>
        <p:spPr>
          <a:xfrm>
            <a:off x="2133599" y="2245318"/>
            <a:ext cx="8843381" cy="4117382"/>
          </a:xfrm>
          <a:prstGeom prst="rect">
            <a:avLst/>
          </a:prstGeom>
        </p:spPr>
      </p:pic>
      <p:pic>
        <p:nvPicPr>
          <p:cNvPr id="5" name="Picture 4">
            <a:extLst>
              <a:ext uri="{FF2B5EF4-FFF2-40B4-BE49-F238E27FC236}">
                <a16:creationId xmlns:a16="http://schemas.microsoft.com/office/drawing/2014/main" id="{26F5C419-737A-CBBD-B14B-1A16A4726146}"/>
              </a:ext>
            </a:extLst>
          </p:cNvPr>
          <p:cNvPicPr>
            <a:picLocks noChangeAspect="1"/>
          </p:cNvPicPr>
          <p:nvPr/>
        </p:nvPicPr>
        <p:blipFill>
          <a:blip r:embed="rId5"/>
          <a:stretch>
            <a:fillRect/>
          </a:stretch>
        </p:blipFill>
        <p:spPr>
          <a:xfrm>
            <a:off x="11201400" y="1522612"/>
            <a:ext cx="5638800" cy="8000348"/>
          </a:xfrm>
          <a:prstGeom prst="rect">
            <a:avLst/>
          </a:prstGeom>
        </p:spPr>
      </p:pic>
      <p:sp>
        <p:nvSpPr>
          <p:cNvPr id="6" name="TextBox 5">
            <a:extLst>
              <a:ext uri="{FF2B5EF4-FFF2-40B4-BE49-F238E27FC236}">
                <a16:creationId xmlns:a16="http://schemas.microsoft.com/office/drawing/2014/main" id="{91A6F0C1-95DC-85AD-B0F0-661524C5AF56}"/>
              </a:ext>
            </a:extLst>
          </p:cNvPr>
          <p:cNvSpPr txBox="1"/>
          <p:nvPr/>
        </p:nvSpPr>
        <p:spPr>
          <a:xfrm>
            <a:off x="2209800" y="6677155"/>
            <a:ext cx="8701808" cy="2421112"/>
          </a:xfrm>
          <a:prstGeom prst="rect">
            <a:avLst/>
          </a:prstGeom>
          <a:noFill/>
        </p:spPr>
        <p:txBody>
          <a:bodyPr wrap="square" rtlCol="0">
            <a:spAutoFit/>
          </a:bodyPr>
          <a:lstStyle/>
          <a:p>
            <a:pPr algn="just">
              <a:lnSpc>
                <a:spcPct val="150000"/>
              </a:lnSpc>
            </a:pPr>
            <a:r>
              <a:rPr lang="en-US" sz="2600" dirty="0">
                <a:latin typeface="Times New Roman" panose="02020603050405020304" pitchFamily="18" charset="0"/>
                <a:cs typeface="Times New Roman" panose="02020603050405020304" pitchFamily="18" charset="0"/>
              </a:rPr>
              <a:t>The system displays the quiz result after submission, showing the user’s score and percentage. If the user passes the quiz, they can download a certificate of completion generated by the system.</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DED4CD2-D57A-F36A-49EE-CD623363594A}"/>
              </a:ext>
            </a:extLst>
          </p:cNvPr>
          <p:cNvSpPr txBox="1"/>
          <p:nvPr/>
        </p:nvSpPr>
        <p:spPr>
          <a:xfrm>
            <a:off x="2209800" y="1792542"/>
            <a:ext cx="12801600" cy="3816429"/>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ADVANTAGES:</a:t>
            </a:r>
          </a:p>
          <a:p>
            <a:endParaRPr lang="en-US" sz="2800" b="1" dirty="0">
              <a:latin typeface="Times New Roman" panose="02020603050405020304" pitchFamily="18" charset="0"/>
              <a:cs typeface="Times New Roman" panose="02020603050405020304" pitchFamily="18" charset="0"/>
            </a:endParaRPr>
          </a:p>
          <a:p>
            <a:pPr>
              <a:lnSpc>
                <a:spcPct val="150000"/>
              </a:lnSpc>
            </a:pPr>
            <a:r>
              <a:rPr lang="en-US" sz="2800" dirty="0">
                <a:latin typeface="Times New Roman" panose="02020603050405020304" pitchFamily="18" charset="0"/>
                <a:cs typeface="Times New Roman" panose="02020603050405020304" pitchFamily="18" charset="0"/>
              </a:rPr>
              <a:t>The Online Quiz System provides easy access to quizzes, automatically evaluates answers, and quickly displays results. It also generates certificates for users, making the process efficient and user-friendly.</a:t>
            </a:r>
          </a:p>
          <a:p>
            <a:pPr>
              <a:lnSpc>
                <a:spcPct val="150000"/>
              </a:lnSpc>
            </a:pPr>
            <a:endParaRPr lang="en-IN" sz="2800" b="1" dirty="0">
              <a:latin typeface="Times New Roman" panose="02020603050405020304" pitchFamily="18" charset="0"/>
              <a:cs typeface="Times New Roman" panose="02020603050405020304" pitchFamily="18" charset="0"/>
            </a:endParaRPr>
          </a:p>
          <a:p>
            <a:endParaRPr lang="en-IN" dirty="0"/>
          </a:p>
        </p:txBody>
      </p:sp>
      <p:sp>
        <p:nvSpPr>
          <p:cNvPr id="4" name="TextBox 3">
            <a:extLst>
              <a:ext uri="{FF2B5EF4-FFF2-40B4-BE49-F238E27FC236}">
                <a16:creationId xmlns:a16="http://schemas.microsoft.com/office/drawing/2014/main" id="{22E4F335-C788-1126-2297-283CE3C734FE}"/>
              </a:ext>
            </a:extLst>
          </p:cNvPr>
          <p:cNvSpPr txBox="1"/>
          <p:nvPr/>
        </p:nvSpPr>
        <p:spPr>
          <a:xfrm>
            <a:off x="2209800" y="5351750"/>
            <a:ext cx="13487400" cy="2815643"/>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LIMITATIONS:</a:t>
            </a:r>
          </a:p>
          <a:p>
            <a:endParaRPr lang="en-IN" sz="2800" b="1" dirty="0">
              <a:latin typeface="Times New Roman" panose="02020603050405020304" pitchFamily="18" charset="0"/>
              <a:cs typeface="Times New Roman" panose="02020603050405020304" pitchFamily="18" charset="0"/>
            </a:endParaRPr>
          </a:p>
          <a:p>
            <a:pPr>
              <a:lnSpc>
                <a:spcPct val="150000"/>
              </a:lnSpc>
            </a:pPr>
            <a:r>
              <a:rPr lang="en-US" sz="2800" dirty="0">
                <a:latin typeface="Times New Roman" panose="02020603050405020304" pitchFamily="18" charset="0"/>
                <a:cs typeface="Times New Roman" panose="02020603050405020304" pitchFamily="18" charset="0"/>
              </a:rPr>
              <a:t>The system depends on an internet connection and currently supports only basic quiz functionality. Advanced features such as detailed analytics or multiple quiz categories are not included.</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639</TotalTime>
  <Words>1596</Words>
  <Application>Microsoft Office PowerPoint</Application>
  <PresentationFormat>Custom</PresentationFormat>
  <Paragraphs>265</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Gotham</vt:lpstr>
      <vt:lpstr>Bookman Old Style</vt:lpstr>
      <vt:lpstr>Arial</vt:lpstr>
      <vt:lpstr>Calibri</vt:lpstr>
      <vt:lpstr>Times New Roman</vt:lpstr>
      <vt:lpstr>Cambria</vt:lpstr>
      <vt:lpstr>Gotham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Sanheera Shaik</dc:creator>
  <cp:lastModifiedBy>sanheera shaik</cp:lastModifiedBy>
  <cp:revision>18</cp:revision>
  <dcterms:created xsi:type="dcterms:W3CDTF">2006-08-16T00:00:00Z</dcterms:created>
  <dcterms:modified xsi:type="dcterms:W3CDTF">2026-03-25T04:06:50Z</dcterms:modified>
  <dc:identifier>DAHCaYqJ9OU</dc:identifier>
</cp:coreProperties>
</file>